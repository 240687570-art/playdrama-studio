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468d1c94c4a8e" /><Relationship Type="http://schemas.openxmlformats.org/officeDocument/2006/relationships/extended-properties" Target="/docProps/app.xml" Id="R3b67a61b848a4c6d" /><Relationship Type="http://schemas.openxmlformats.org/officeDocument/2006/relationships/officeDocument" Target="/ppt/presentation.xml" Id="Rbd3cd3749e7c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12b6a6d004b4c"/>
  </p:sldMasterIdLst>
  <p:notesMasterIdLst>
    <p:notesMasterId xmlns:r="http://schemas.openxmlformats.org/officeDocument/2006/relationships" r:id="Re2ab2da2b1a84a45"/>
  </p:notesMasterIdLst>
  <p:sldIdLst>
    <p:sldId xmlns:r="http://schemas.openxmlformats.org/officeDocument/2006/relationships" id="256" r:id="R0b17df886f4a4c72"/>
    <p:sldId xmlns:r="http://schemas.openxmlformats.org/officeDocument/2006/relationships" id="257" r:id="R02fb1af196ac4aa3"/>
    <p:sldId xmlns:r="http://schemas.openxmlformats.org/officeDocument/2006/relationships" id="258" r:id="R38f4d8dd818b4d95"/>
    <p:sldId xmlns:r="http://schemas.openxmlformats.org/officeDocument/2006/relationships" id="259" r:id="Ra26a7af138e64152"/>
    <p:sldId xmlns:r="http://schemas.openxmlformats.org/officeDocument/2006/relationships" id="260" r:id="Re470aaf111ba45c7"/>
    <p:sldId xmlns:r="http://schemas.openxmlformats.org/officeDocument/2006/relationships" id="261" r:id="R84119576d6ae428a"/>
    <p:sldId xmlns:r="http://schemas.openxmlformats.org/officeDocument/2006/relationships" id="262" r:id="R0a767c95e2e9424b"/>
    <p:sldId xmlns:r="http://schemas.openxmlformats.org/officeDocument/2006/relationships" id="263" r:id="R4af01e6a37864acc"/>
    <p:sldId xmlns:r="http://schemas.openxmlformats.org/officeDocument/2006/relationships" id="264" r:id="Re424ae48616943e9"/>
    <p:sldId xmlns:r="http://schemas.openxmlformats.org/officeDocument/2006/relationships" id="265" r:id="Ra3790edeef8141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12b6a6d004b4c" /><Relationship Type="http://schemas.openxmlformats.org/officeDocument/2006/relationships/theme" Target="/ppt/theme/theme1.xml" Id="Raa1862075dee4afb" /><Relationship Type="http://schemas.openxmlformats.org/officeDocument/2006/relationships/notesMaster" Target="/ppt/notesMasters/notesMaster1.xml" Id="Re2ab2da2b1a84a45" /><Relationship Type="http://schemas.openxmlformats.org/officeDocument/2006/relationships/presProps" Target="/ppt/presProps.xml" Id="Re72117dc2a1a45b5" /><Relationship Type="http://schemas.openxmlformats.org/officeDocument/2006/relationships/viewProps" Target="/ppt/viewProps.xml" Id="R8944eb4ba5794d08" /><Relationship Type="http://schemas.openxmlformats.org/officeDocument/2006/relationships/tableStyles" Target="/ppt/tableStyles.xml" Id="R7f9475a7cfc84cb5" /><Relationship Type="http://schemas.openxmlformats.org/officeDocument/2006/relationships/slide" Target="/ppt/slides/slide1.xml" Id="R0b17df886f4a4c72" /><Relationship Type="http://schemas.openxmlformats.org/officeDocument/2006/relationships/slide" Target="/ppt/slides/slide2.xml" Id="R02fb1af196ac4aa3" /><Relationship Type="http://schemas.openxmlformats.org/officeDocument/2006/relationships/slide" Target="/ppt/slides/slide3.xml" Id="R38f4d8dd818b4d95" /><Relationship Type="http://schemas.openxmlformats.org/officeDocument/2006/relationships/slide" Target="/ppt/slides/slide4.xml" Id="Ra26a7af138e64152" /><Relationship Type="http://schemas.openxmlformats.org/officeDocument/2006/relationships/slide" Target="/ppt/slides/slide5.xml" Id="Re470aaf111ba45c7" /><Relationship Type="http://schemas.openxmlformats.org/officeDocument/2006/relationships/slide" Target="/ppt/slides/slide6.xml" Id="R84119576d6ae428a" /><Relationship Type="http://schemas.openxmlformats.org/officeDocument/2006/relationships/slide" Target="/ppt/slides/slide7.xml" Id="R0a767c95e2e9424b" /><Relationship Type="http://schemas.openxmlformats.org/officeDocument/2006/relationships/slide" Target="/ppt/slides/slide8.xml" Id="R4af01e6a37864acc" /><Relationship Type="http://schemas.openxmlformats.org/officeDocument/2006/relationships/slide" Target="/ppt/slides/slide9.xml" Id="Re424ae48616943e9" /><Relationship Type="http://schemas.openxmlformats.org/officeDocument/2006/relationships/slide" Target="/ppt/slides/slide10.xml" Id="Ra3790edeef8141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ffa57177d30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574d965b24c05" /><Relationship Type="http://schemas.openxmlformats.org/officeDocument/2006/relationships/notesMaster" Target="/ppt/notesMasters/notesMaster1.xml" Id="R46f1ff309d0e4d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311623c2e74c69" /><Relationship Type="http://schemas.openxmlformats.org/officeDocument/2006/relationships/notesMaster" Target="/ppt/notesMasters/notesMaster1.xml" Id="R13a0d941e51f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8919ee69b4e94" /><Relationship Type="http://schemas.openxmlformats.org/officeDocument/2006/relationships/notesMaster" Target="/ppt/notesMasters/notesMaster1.xml" Id="Rd0db10b82ec6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245ace2c6423b" /><Relationship Type="http://schemas.openxmlformats.org/officeDocument/2006/relationships/notesMaster" Target="/ppt/notesMasters/notesMaster1.xml" Id="R8d4f72d79c9f4f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c413476474e7a" /><Relationship Type="http://schemas.openxmlformats.org/officeDocument/2006/relationships/notesMaster" Target="/ppt/notesMasters/notesMaster1.xml" Id="Ree14b4cd62a2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229fb03be4153" /><Relationship Type="http://schemas.openxmlformats.org/officeDocument/2006/relationships/notesMaster" Target="/ppt/notesMasters/notesMaster1.xml" Id="R039ffefb10ae47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63b2e73ae432b" /><Relationship Type="http://schemas.openxmlformats.org/officeDocument/2006/relationships/notesMaster" Target="/ppt/notesMasters/notesMaster1.xml" Id="R6d9091734af4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3885e234924945" /><Relationship Type="http://schemas.openxmlformats.org/officeDocument/2006/relationships/notesMaster" Target="/ppt/notesMasters/notesMaster1.xml" Id="R79161aeef0a44c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2f87e2d1784e14" /><Relationship Type="http://schemas.openxmlformats.org/officeDocument/2006/relationships/notesMaster" Target="/ppt/notesMasters/notesMaster1.xml" Id="R3c21d4d3d71945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1298addbe46c4" /><Relationship Type="http://schemas.openxmlformats.org/officeDocument/2006/relationships/notesMaster" Target="/ppt/notesMasters/notesMaster1.xml" Id="R6663e2e34114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e13fd8edc4e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0edf307d114b9d" /><Relationship Type="http://schemas.openxmlformats.org/officeDocument/2006/relationships/slideLayout" Target="/ppt/slideLayouts/slideLayout2.xml" Id="Re3a0e26e62fe48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0e26e62fe48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4708a40204b25" /><Relationship Type="http://schemas.openxmlformats.org/officeDocument/2006/relationships/image" Target="/ppt/media/image.png" Id="Rf1e2bac6c94344eb" /><Relationship Type="http://schemas.openxmlformats.org/officeDocument/2006/relationships/notesSlide" Target="/ppt/notesSlides/notesSlide1.xml" Id="Rf2cd01ac172848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922438381457e" /><Relationship Type="http://schemas.openxmlformats.org/officeDocument/2006/relationships/notesSlide" Target="/ppt/notesSlides/notesSlide2.xml" Id="R111c28c6bb9c42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0ed8a88d244f01" /><Relationship Type="http://schemas.openxmlformats.org/officeDocument/2006/relationships/notesSlide" Target="/ppt/notesSlides/notesSlide3.xml" Id="R7662b0e0a575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e7ddad1644978" /><Relationship Type="http://schemas.openxmlformats.org/officeDocument/2006/relationships/notesSlide" Target="/ppt/notesSlides/notesSlide4.xml" Id="Rb994a179ddb7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daf5a938a4654" /><Relationship Type="http://schemas.openxmlformats.org/officeDocument/2006/relationships/image" Target="/ppt/media/image2.png" Id="R1245a5a534c5458f" /><Relationship Type="http://schemas.openxmlformats.org/officeDocument/2006/relationships/notesSlide" Target="/ppt/notesSlides/notesSlide5.xml" Id="R6b1aa7d2c3d7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49408e66d41d0" /><Relationship Type="http://schemas.openxmlformats.org/officeDocument/2006/relationships/image" Target="/ppt/media/image3.png" Id="R5dd044fa8a16435e" /><Relationship Type="http://schemas.openxmlformats.org/officeDocument/2006/relationships/notesSlide" Target="/ppt/notesSlides/notesSlide6.xml" Id="Rb76e03087a584e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7c8b06bef84c6c" /><Relationship Type="http://schemas.openxmlformats.org/officeDocument/2006/relationships/image" Target="/ppt/media/image4.png" Id="R184a501d8a034a8b" /><Relationship Type="http://schemas.openxmlformats.org/officeDocument/2006/relationships/notesSlide" Target="/ppt/notesSlides/notesSlide7.xml" Id="R71a27ecbe92c42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c74bdd285425e" /><Relationship Type="http://schemas.openxmlformats.org/officeDocument/2006/relationships/notesSlide" Target="/ppt/notesSlides/notesSlide8.xml" Id="R513d22ea308849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f1678d3184466" /><Relationship Type="http://schemas.openxmlformats.org/officeDocument/2006/relationships/notesSlide" Target="/ppt/notesSlides/notesSlide9.xml" Id="Reeb98955224940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2e7bc2578471b" /><Relationship Type="http://schemas.openxmlformats.org/officeDocument/2006/relationships/notesSlide" Target="/ppt/notesSlides/notesSlide10.xml" Id="Rf9fe7c594d154c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9CC94-CB91-4560-97A0-2C12A79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E4C30-D6E4-4A40-B523-89AF608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0E9C0-374F-4C5E-B93F-DF8B4F8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2347F-23E4-4B39-A36C-F9CFD227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2077A-2E45-4FD5-B597-A2E7723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1796-9FB5-4533-B0CC-5B99297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B82DB-7F64-46F3-AE5F-6943A369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DB791-71B6-4429-BB76-9700A49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F22DA-BB08-40FA-8EF2-574CF71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F021F-4040-45E8-9CCF-80EFF6E3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87168-9854-416E-9616-3B835643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75CE9-6072-4299-93A1-89FA632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6837F-9826-40CD-BA8E-CA5968C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A0F5E-E0FC-4FDC-94D0-A9AE1A1F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A09C9-DAA2-42E2-A804-C088E1F2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06890-2EB5-484A-B1ED-270A58E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E249B-412C-4610-A9D7-29FE5BDC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B7908-C901-4DCB-83AB-282BEA5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8A3CC-0AD4-4F4F-B60F-8074B49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BF58D-21D6-447A-910B-B89A214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326E5-D9D5-4FC4-AB9D-7AF8E6B4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2C291-C734-4C1E-8BF5-91EFC0B9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7B8CD-8952-4EF7-AC3C-A5E3595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BA9F6-8F92-4D84-ABD7-18F1B644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0BB4E-AE22-40F6-A455-182942E6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29478-F7A6-426C-A25A-2765F387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8AF33-8CC4-42B9-A154-5FB7E2B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7BA0D-15D4-42FA-9093-680F6059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93104-4263-4A83-9C17-38751AC1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D1409-EAC3-47D5-AD50-F641C8B2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A708DF-FB81-4027-A468-B2F726A3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1BB22A-9CBF-443A-8493-34D7ED7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B3086-ED52-4CCA-BD64-307AADC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27ED8F-2617-408D-8385-13E1AE2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B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65ADE-0ED3-4F5F-8A26-BB9C245A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2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14BA5F-72C7-4E83-B14C-09934B2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7EEF61-A839-4741-BB84-C1721660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1A080F-F285-4E6B-B178-43626A9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7B6534-94C0-4F69-9F28-7EBF3C4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33909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19050">
            <a:solidFill>
              <a:srgbClr val="7DF2A7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2bac6c94344eb"/>
          <a:srcRect xmlns:a="http://schemas.openxmlformats.org/drawingml/2006/main" l="5717" t="0" r="57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066800"/>
            <a:ext cx="3009900" cy="42481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E90AB1-DA3F-469D-8F09-35DF767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51C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BDF44A-B98A-4D1C-B8BB-95A843A9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Commercial Launch Workspace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B9926B-98FC-4C66-80D0-A2447207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6858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面向中国互动短剧时代的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AI 生产与分发基础设施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B6C1C-CABD-4C57-8C1C-35BDCD8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rPr>
              <a:t>把剧情图谱、AI 导演、内容安全、H5 发布、渠道追踪、付费结局和数据回传合成一条可上线的闭环。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37786-5D02-4E63-8133-CD9A7CA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CC020B-FDA7-4D55-8E55-27E8FCA3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ECF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9ECFA8"/>
                </a:solidFill>
                <a:latin typeface="Microsoft YaHei UI"/>
                <a:ea typeface="Microsoft YaHei UI"/>
                <a:cs typeface="Microsoft YaHei UI"/>
              </a:rPr>
              <a:t>路演版 · 国内影响力叙事 · 2026</a:t>
            </a:r>
          </a:p>
        </p:txBody>
      </p:sp>
    </p:spTree>
    <p:extLst>
      <p:ext uri="{BB962C8B-B14F-4D97-AF65-F5344CB8AC3E}">
        <p14:creationId xmlns:p14="http://schemas.microsoft.com/office/powerpoint/2010/main" val="16231216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2C6FC-006D-4143-902D-DB07266A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F71D3-79F1-40F6-833C-5015408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E4B2B-4939-4028-AB48-131A4CC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88D67-F0BB-4C79-BDC9-6D82594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60384-5A4B-4BE5-B7ED-8C9D1A2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7C080-D946-4B95-9812-85A7A51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C43F-9AFE-4B7F-A741-63884DD0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0DB68-980D-40DE-A07B-B8D4733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CA42A-25A0-4DC1-8EF5-38BEB8B1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D3B4-053F-44EF-8EB5-C3265820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25D79-1C01-4768-BA3C-84760D5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E503-A5DE-4AFF-9518-A9406DD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DB390-B029-4E47-9AF9-B8CA021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9AE38-8F31-44C6-935F-96C7976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198BA-AD75-419A-913B-EA5B58B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5A775-E78F-4C40-906A-40FDE443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17A3B-9145-440E-BB06-1CB0EAA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9271-891F-4463-804D-5DACA9F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58B65-0360-44BD-A653-B9F2320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35EFA-B5C4-4FCA-B300-68A99C4B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145EA-9FBD-443E-B395-FDB881E2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3765A-F667-49ED-AA56-49C2322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C6517-8D3D-4D85-878D-19719A13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66DB6A-C05F-4AB4-B06D-0797100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1C0DD-4EDB-479A-BA37-DBD418C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5A1FE-E74F-4422-965C-7C8725D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26F31-3F4B-46BA-87DA-CB6506EA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C3400-AF62-4C6C-97AC-0557372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36AD1-5AAB-4394-8C27-54DD2532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AE2BD-05CD-4C0A-9D44-46A6F066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77523-8183-40F3-B657-2B57CC24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511B7-40D3-4950-AF70-B295D0C8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C47E7-D8CD-4C3A-B266-BF3F7B8B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86F2D6-1E63-4423-AB9A-7AAB435C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29729-4EA5-468D-8017-38432073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C31F91-A78F-4B9C-8D17-58D6BD4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0B084A-1195-4190-8154-EF5898A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F798CC-2536-4E2D-8A16-A64C76F8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7B455C-902C-4567-BE13-E63A2CF3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DOMESTIC MARKET 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339468-ED76-4231-AB99-1FEC048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微短剧已进入中国内容产业的</a:t>
            </a:r>
          </a:p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大规模基础设施窗口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C96DBE-D195-43FA-9121-5E9B78D8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76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用户、市场、企业和就业生态同时放大，下一阶段竞争会从“谁能投流”走向“谁能稳定生产、合规上线、持续变现”。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96963-CFDE-4C9B-BEA8-2D843B94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333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1B512B-4A2E-41CA-9CB8-E225D30C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6.96 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BA02B-28B9-4BBB-BEC5-D70BEE85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990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微短剧用户规模，已经是全民级内容形态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36CAF2-60B8-446C-B157-63AAFE43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333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1E98BC-3E31-46B1-B5B5-155C0056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504.4 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019558-18DA-4A42-8767-4464B57A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1990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2024 年市场规模公开报道口径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7DFAC4-6038-49AC-8FE1-28B06AC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2333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2BC03-746E-4613-AAA6-B989E56B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1990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677.9 亿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FF56C0-D7D4-4352-97DA-EFD31A3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19907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2025 年预计市场规模，增长仍在继续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EA55B1-A90F-4335-8CF9-F53F2533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200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0211D7-50C0-45AF-8CEC-9C3DCBA5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10.02 万家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F3F46D-E4D6-4720-A5A5-AE9DFE10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7B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D7BB"/>
                </a:solidFill>
                <a:latin typeface="Microsoft YaHei UI"/>
                <a:ea typeface="Microsoft YaHei UI"/>
                <a:cs typeface="Microsoft YaHei UI"/>
              </a:rPr>
              <a:t>相关企业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C3F9BF-A50E-4A5B-B03A-F7B768C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F259C5-2910-4F65-B7B2-D745855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64.7 万个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ABD539-BC14-42D8-8399-9DBC7ACF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7B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B8D7BB"/>
                </a:solidFill>
                <a:latin typeface="Microsoft YaHei UI"/>
                <a:ea typeface="Microsoft YaHei UI"/>
                <a:cs typeface="Microsoft YaHei UI"/>
              </a:rPr>
              <a:t>就业机会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CBC2B8-1554-4CE4-8625-ADEFB0A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80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6C806E"/>
                </a:solidFill>
                <a:latin typeface="Microsoft YaHei UI"/>
                <a:ea typeface="Microsoft YaHei UI"/>
                <a:cs typeface="Microsoft YaHei UI"/>
              </a:rPr>
              <a:t>Source: 中国网络视听协会《中国微短剧行业发展白皮书（2025）》公开报道；人民日报海外版。</a:t>
            </a:r>
          </a:p>
        </p:txBody>
      </p:sp>
    </p:spTree>
    <p:extLst>
      <p:ext uri="{BB962C8B-B14F-4D97-AF65-F5344CB8AC3E}">
        <p14:creationId xmlns:p14="http://schemas.microsoft.com/office/powerpoint/2010/main" val="11215207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FBBFF-DFD1-4FB4-8C5D-0EECD6D0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FAAFA-402C-4594-9C8B-0CA73FB3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880CA-CB50-49F7-BC6E-B907C22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C2E5B-499A-4295-A312-1758EBF0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90E1F-CDB3-4D56-AE1D-3EC5D5A2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65CE4-FB73-4402-820E-9E12DAE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WHY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13752-DEB4-4B46-B9EE-1700B66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互动短剧不是“多写几个结局”</a:t>
            </a:r>
          </a:p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而是一次生产系统升级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EF565-05E0-4A83-AA9D-3D390FFF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当剧情出现分支、条件变量、隐藏结局、付费节点和多渠道流量来源，传统文档和剪辑表很快失控。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71253-A906-4D3B-92F9-23940C8F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4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FB07D-859D-4784-9B83-8BD9F08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线性短剧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781CA-114E-4F11-9D3F-72750538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脚本、分镜、剪辑、投流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CA61B-8804-4061-822D-2EC9B73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4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72DCA-1D07-4910-871D-A24FEB2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互动短剧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6ABBF-122A-4966-8097-F69B3A0E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节点、选择、变量、结局、付费门槛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E4489-57D9-44E0-9982-F2DA6E5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4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3C505-0903-4771-AABA-5D0E7D2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商业化短剧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F8E37-B320-4713-98DE-36BEC193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内容审核、渠道追踪、支付、数据复盘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5C8B9-EDD5-48E4-978C-8387D5D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3C1F1-57DA-4566-8BCD-4C75BB8B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F7612-2C29-4992-9184-B9917D7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B5D4D-FC48-4A6D-91FC-3E384786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47850"/>
            <a:ext cx="1962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 的价值：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把互动内容从“手工项目”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变成“可运营产品”。</a:t>
            </a:r>
          </a:p>
        </p:txBody>
      </p:sp>
    </p:spTree>
    <p:extLst>
      <p:ext uri="{BB962C8B-B14F-4D97-AF65-F5344CB8AC3E}">
        <p14:creationId xmlns:p14="http://schemas.microsoft.com/office/powerpoint/2010/main" val="2666212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AB429-717D-472F-A139-4A0E9F77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FB605-ABEA-44CE-ABBE-E577DD16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1C80D-3C6D-4C98-9197-AD37A8C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A1057-9C80-4D86-8F0C-A2EE963C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62253-12A8-4C4C-B5D2-1D5F840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136E0-E259-48D9-927A-01C355EA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4829A-FDD7-47C1-9134-0D3FF2D7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F5C0F-6896-4C97-991C-BB08BAF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AEEB8-4699-4B14-9A57-1D33387C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F703A-3457-402D-BD98-376BF04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8490E-587D-45F0-9FE2-C3912642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F07E7-B0CD-4C0E-9002-D55C23D6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EBD4D-5367-4853-AC70-E4CC89AD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EA903-F243-4698-A1E1-019F529F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90FA2-AC62-4813-8284-A612D365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821BB-B82E-4D2E-9B03-39BF5B58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BD6F5-A99A-409E-9C50-F1ECA3F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0820E-F373-43D5-BBB8-F91EA9C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A6DC5-EC06-4A0D-B3C6-99ADC57A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A02C9-02B2-4D8F-933D-B6CCD33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A2F5D-0242-4940-8D00-1E395F2D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F1951-9291-48DB-9878-73EA386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DB102-C319-4556-96DE-02D7E82D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47411-D648-4B5F-A14B-AEE6A0EF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FE148-9276-4AAB-AAFA-05CC4CB7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B5418-ABD9-4E68-9624-3F0C49A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0DDAE-2996-455E-AF6A-3EBE1F01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FB0B5-ED12-436F-ABDE-8AEFBAF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987EC-5FF9-4A5C-B113-177C8484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5E2C09-53E8-4D77-9E7A-83CC9817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F11AF-BCC0-4214-920A-F6FF10F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100C9-57B6-4222-AF4C-E9D022C3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A45912-FC56-491D-B0D2-8C5B926C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DAB4C-B9A1-47D6-97E6-A249A5A1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BD49F-5A87-46C1-845E-F00313C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B50CF7-7425-4675-BFEA-CDB765B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AE0C4-AD56-4BCA-9088-6810FD4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4ABE1-50AD-480A-9E8D-8C2EDE2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CFFECA-4E40-4204-801F-B9028C93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PLATFORM MAP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EC0D9-C6DE-4DCE-A018-F8F2E8CD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一条从创作到变现的产品闭环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F86A70-48AC-4EA6-BA03-D13812F8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F85283-261A-49BE-AB4B-703E20F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6D2F66-108F-4A50-A8E5-B098264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创作图谱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596C2F-DDC1-40DB-8A39-9C3DF01A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节点 / 选择 / 变量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64A5DD-5C41-4425-B813-2EF6890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52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320271-827B-483F-AB9E-D9D013D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E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5A8379-D318-4D6D-8A2F-7AF3AC97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0A256A-514C-4B02-BA83-67524D40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AI 导演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3DF648-80AA-4C59-8456-4260E01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分支扩写 / 质量检查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8F7AFB-FAA7-41C2-82AD-05AB87B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2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082CAD-B551-4E13-BDA7-E77CE729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141E0C-EC43-4111-8760-7C1FBD8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491B29-C6AE-4CA2-8585-3579E4B8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安全审核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CE0E57-86BA-4556-9A52-73A22A8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禁词 / 合规 / 商用门禁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54E2C2-7232-4AE3-A9E2-EF9B250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F4A597-C333-409B-81E3-0EB566F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E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3AD5A9-59FD-4549-8D49-A29984E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965A8B-4A83-43C1-AA16-3605B58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发布容器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E67E08-EBEF-4E0E-B1ED-1D046C7B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H5 / 抖音 / 微信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FC98DD-74B6-4BD3-87F0-25A4A6D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F05CFE-E6C8-4063-95AE-ED112A4C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E2ED68-3B85-49E4-844F-35C9037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EAE389-CC3F-4FD1-B404-3698867C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付费结局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471C21-9217-440A-8B9A-90C49B8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支付宝 / 微信支付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A5EA6A-989C-45CE-A8E0-27848BC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52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D35E1A-7EC7-43F3-8584-C68E7541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527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9E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F02392-F6DE-4027-B865-42D72305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381713-C10B-4BE3-9240-FB717E1A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575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数据回传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B155A9-1B92-4463-ADF1-77D44656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481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漏斗 / 渠道 / 留存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D97D19-1137-4EAB-A687-9A8E4B7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D6155C-F24D-42D7-A923-0F32D92D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不是单点工具，而是“生产、上线、收款、复盘”的短剧商业操作系统。</a:t>
            </a:r>
          </a:p>
        </p:txBody>
      </p:sp>
    </p:spTree>
    <p:extLst>
      <p:ext uri="{BB962C8B-B14F-4D97-AF65-F5344CB8AC3E}">
        <p14:creationId xmlns:p14="http://schemas.microsoft.com/office/powerpoint/2010/main" val="19659928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E5B2A-FC75-4B92-BB76-4B9D451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36B6-8036-46EE-836E-05A2A0C9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EF40-CD7D-4CF5-B650-D75ED11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954B5-43E7-4D46-8CF0-C34C84E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803CE-5BDD-4921-88F3-F888BB7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5F31C-23BD-4584-8397-F7F8F816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PRODUCT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50CFA-794B-48B7-B887-82B4209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当前版本已经跑通商用门禁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EB1B8-AA5F-4137-BAD2-2CBC3DAE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不是纯 Demo：生产数据库、手机号验证、真实支付链路、邮件与短信服务、AI 模型、部署和健康检查已经接入。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1B4A6-63A8-4A67-A8E0-D1A045B5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666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5a5a534c5458f"/>
          <a:srcRect xmlns:a="http://schemas.openxmlformats.org/drawingml/2006/main" l="0" t="9477" r="0" b="9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105150"/>
            <a:ext cx="6477000" cy="2952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79380-844B-44D6-9E8D-87BAA53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4BAAE-4E9F-4F7F-8DD1-A97A6D35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17 / 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B55FB-D9AD-4A0E-9B73-5E6D8E87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上线检查通过项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CB1BF-1E1F-4596-8D5E-EC559AB0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F8B37-B7F7-493F-B2D1-3C78CEE4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A8C82-C268-4BE7-8024-96061BA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阿里云 RDS 已连接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C86F5-EC9B-4935-A24A-898AD80A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388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8E554-2C37-480E-947C-0849BB9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912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SMS + Pay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5E1D3-7682-4B57-91EB-664D5ED7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10300"/>
            <a:ext cx="2133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腾讯云短信与支付宝链路</a:t>
            </a:r>
          </a:p>
        </p:txBody>
      </p:sp>
    </p:spTree>
    <p:extLst>
      <p:ext uri="{BB962C8B-B14F-4D97-AF65-F5344CB8AC3E}">
        <p14:creationId xmlns:p14="http://schemas.microsoft.com/office/powerpoint/2010/main" val="18453558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48B78-CB95-4CD5-80E1-947176F8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0EE2B-24DB-4196-919C-A5B70417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63017-D93B-44F3-8BE4-1AC4F6AF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C6E88-69E8-4C55-9CF7-DCCEBCCC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314E4-AC45-41FC-932C-B888661E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7FB04-D133-40F2-A296-094CEA9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362E2-CF4B-4FC0-B59D-746B8A7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B4C92-C765-4CFE-8E5A-D095227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052B4-140A-4B4F-B1A3-F84B247A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8C938-1E6E-4D62-85DC-2FD601B7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BDD0B-969E-4985-B9C4-806EEC6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751EA-1AC6-4F60-B22C-FF58088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DB5BA-FFAD-4F66-AFF9-040139A5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200E7-5F50-40AF-9BA7-F65870FF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55BFF-EE75-4240-AA0C-6B351CF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62A93-0079-4448-AD7F-27D9C74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5211-925D-4ACF-89A1-304D3FED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58E50-0FC0-433F-B5D9-6839963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CFAEB-24ED-4D5A-837C-01D889C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68D5B-7F5E-4F56-849E-25A0773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F7085-B4D0-42CF-B1F5-9DA2A42E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FB9D0-7A42-49EE-B88A-224EE36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BD1EC-894D-4F07-990A-2F9194ED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06030-CEA6-476B-A65B-A6A224D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09766-098C-426A-A2C6-0A05F8B9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14087-57D5-4C00-A4F2-35F44CC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BE905F-BF79-4534-94DC-0661330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AC0F1-A0A7-4C32-9A7E-73FD03FD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1DE3E-6746-4EC0-93EA-B4911B1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62E49-ECD4-47F5-BA7C-A834D159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84F6C5-76BC-4559-907F-5444A1C8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7BC203-3176-4140-848D-C771FFA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F8BDFF-5BEB-47D9-A91F-76020D9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4B7F8-577C-4914-9D8A-3028FC81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5800C-ACDE-41EC-84BF-03319D3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62B553-43E9-45F3-907F-87098BD4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8E0FF-B9EC-462C-B889-2F08E37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7CCAED-67BF-4F20-ABE6-AAC5940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9FD4D2-C635-45A0-872D-98BA6639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CREATOR WORKFLOW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51EDCC-9BA5-4E2A-A0F0-108999E9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一个小团队也能管理复杂互动作品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048F8-30DD-409D-B047-243E9221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剧情、角色、AI 导演、发布和变现不再分散在文档、表格和聊天记录里。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8C9A50-5508-4F07-8006-30CC46A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6000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044fa8a16435e"/>
          <a:srcRect xmlns:a="http://schemas.openxmlformats.org/drawingml/2006/main" l="0" t="11967" r="0" b="1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067050"/>
            <a:ext cx="5810250" cy="27622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29B166-95BD-4BEB-AA36-2D31FBD2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1375FD-3C74-47B4-BF9D-856C5EC2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527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FC37D2-091B-4550-BE7B-E2F28DE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051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剧情图谱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B80E78-AC0A-4393-BEA5-CD16615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62325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分支结构、隐藏结局、状态变量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18F7B8-C931-4CD8-951E-243280D5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814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F26CCD-F23B-4D48-B906-C20A8DDC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79CDC4-A5EE-44A2-AFFB-1C38319A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86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角色资产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BFAA9B-E0A1-4BDA-921E-6E229BE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43375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人物设定、口吻、动机和素材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0E9024-1624-4D7E-A9D0-24A6031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6247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996547-9747-4D77-BF22-ABB8385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E9E4AC-57F7-4D1E-B510-B06B9AF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AI 导演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547560-73C9-4FA2-B2CB-C614F95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24425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续写、补分支、检查冲突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54EA36-108D-401D-9E33-27A77B00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43525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251763-1A2C-420F-88A5-CBA61C01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D6A5CC-B493-4339-9745-A3D9EB4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48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发布变现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BDB157-729D-4211-B62D-952399F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05475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预览页、渠道链接、付费门槛</a:t>
            </a:r>
          </a:p>
        </p:txBody>
      </p:sp>
    </p:spTree>
    <p:extLst>
      <p:ext uri="{BB962C8B-B14F-4D97-AF65-F5344CB8AC3E}">
        <p14:creationId xmlns:p14="http://schemas.microsoft.com/office/powerpoint/2010/main" val="122349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80D42C-D973-49D8-A396-8D51B1E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12CB7-0DCE-4330-B066-EEA53422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C1F85-253A-40E1-BFB9-5B469F9A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2737E-B26F-49B6-8ACF-C03AEDF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E3AE6-80CD-409B-801E-79F86C07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FFCA6-D7EE-45A1-BCE9-05382196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DISTRIBUTION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34E2A-C601-4111-B279-406A6496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发布变现：从 H5 到抖音、微信生态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951C-01ED-4687-8FA1-F8A9CFA5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先用 H5 链接验证内容与付费，再把成熟作品推进抖音小程序、微信小程序和短视频分发。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589C1-3C81-4B72-A3CA-05B731A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5143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D8B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a501d8a034a8b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143250"/>
            <a:ext cx="4953000" cy="2476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56B0C-E248-44CE-B92F-F0588C9A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2657F-CE1C-4685-B00E-DCDA209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051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H5 预览页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D21BF-68E8-4AA1-92B7-F543B33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2DA25-CB84-444C-BCF7-03A97693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051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抖音短视频引流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030AD-5971-4972-95F4-E5D7D30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7750C-A5C6-4F6D-BCBA-D40A43F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291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微信社群传播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970A7-535E-4113-B3E2-1BC49F5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A4AEC-FE0A-4C21-BF60-D605517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91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付费结局 / 数据回传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8553A-9904-4F99-B4DC-BB54D78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0A0BD-94E3-4440-9062-72439C5D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84CAE-5279-4094-B7DE-9C09818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0C687-9388-43B2-A4C4-B6719CEB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100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79C17-A5E1-4BCC-AFDA-5B565569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912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渠道参数进入播放事件，创作团队能知道哪条内容、哪个入口带来有效付费。</a:t>
            </a:r>
          </a:p>
        </p:txBody>
      </p:sp>
    </p:spTree>
    <p:extLst>
      <p:ext uri="{BB962C8B-B14F-4D97-AF65-F5344CB8AC3E}">
        <p14:creationId xmlns:p14="http://schemas.microsoft.com/office/powerpoint/2010/main" val="17645808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A5D63-403F-4995-AEB1-C62E21D3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8328C-A499-4C54-B9C3-755A7A6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FD658-66D9-4C3A-96F6-EE641FA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41D3C-180D-420E-8624-BD0EA76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E4432-C289-4635-8ECD-BC626F61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B68B6-66BE-4A9D-B26A-B7558AFF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20F7B-D553-4945-A7EE-8671A6E3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517EB-F7C3-4C8D-A777-4C33DD68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4F5C3-3D56-4044-AB8C-E94AEF34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925B0-A009-4CEE-A33A-502F172F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76DD8-9B66-4B45-9F47-2BD7C413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AC79-8E23-4F0A-A654-0A8B1E97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AD01B-7E69-4407-8D8B-8FEE1F3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049D4-58E3-4CCA-B673-B821C094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49C88-C429-4DD0-9382-C680C4C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8FC5D-6AA5-45D2-80E3-7577C223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4BC2F-1AB8-47ED-989F-FFE8AAB8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80FFD-4887-4952-8045-A009FF17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5A689-0DEB-48A2-A678-E1479625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19053-68D7-4824-BC5F-7AA6CFF3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73710-E148-42E4-BCA5-4DD670B8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C6325-487E-461E-9523-1566ED3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27E03-AE51-4BAC-BDBE-F159B1CB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F38D1-9E3C-4ECF-B2FA-531A6914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DC85F-B2E9-41A3-996F-94582E26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B8024-CC89-4FCC-A977-C1508F4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049A1-CC8A-4833-9265-B0A433C1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D869C-C591-4D6A-9D29-84F7CEDA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60196-10B0-4992-99AD-1CCFD48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91843-9BB4-4CD9-BE5E-509AA0D7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62795B-AD4C-4691-A1E0-75D18A9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5D1BA-8C29-4DC2-898F-60441A7A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2EDDA-C6B2-4AD4-A998-6EBCEE0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53A4C-E3FF-4D85-B688-899910C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0AB72-73A0-41A7-B5B4-F73751A8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2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C2B096-077C-4709-AAEB-A45C06D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D81768-4DF0-4232-811B-C218D9B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7D4510-B06E-4F6A-A56E-C64EDF63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8BEFA4-06A4-4D45-B27C-B4AAD5E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CHINA IMPACT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70AA11-544F-4788-95F2-63EFCB4D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 对国内内容生态的价值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不是“再做一个工具”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AB690D-4144-4555-8D19-D0F72D5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rPr>
              <a:t>它把中小团队最缺的工业化能力做成工作台：协作、审核、上线、收款、追踪、复盘。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5706EB-088F-478D-85AD-2FB12191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3AE0AB-4CDF-4B01-9C3B-EA5AEF37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短剧团队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C863A-AE30-44CF-A7C6-F86770B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把互动作品从试验稿推进到可上线版本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336826-798E-4B19-BF4C-94989330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27CD98-7305-41C6-B8AD-9DD387DB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MCN / 服务商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4532AD-C031-445A-B376-25710C3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用标准化流程交付更多垂类项目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62643D-4999-47CE-913D-EEB8C87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83D5C0-F53A-48CF-AB75-9FC0C69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地方文旅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FCCB9A-8E62-4424-B979-89E194F0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把城市故事做成可参与、可传播的互动内容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9BAE77-1BA0-446C-901E-573E040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48D971-689A-4DBC-8F48-7671F47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教育与品牌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65475B-876B-4C8E-B5C9-85D1E30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57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用剧情化体验做获客、培训和会员转化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613EB2-F28E-4F5C-A6E8-08084B8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1430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430"/>
          </a:solidFill>
          <a:ln xmlns:a="http://schemas.openxmlformats.org/drawingml/2006/main" w="19050">
            <a:solidFill>
              <a:srgbClr val="7DF2A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61D68E-19B1-475A-9507-8A70BD28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内容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产业化</a:t>
            </a:r>
          </a:p>
        </p:txBody>
      </p:sp>
    </p:spTree>
    <p:extLst>
      <p:ext uri="{BB962C8B-B14F-4D97-AF65-F5344CB8AC3E}">
        <p14:creationId xmlns:p14="http://schemas.microsoft.com/office/powerpoint/2010/main" val="4097182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4DAF9-C888-4AA9-823B-E5531997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C93C5-2223-4863-B6AF-D834F3E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4EC2A-8316-4498-AB7D-CA56BD72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F4FBF1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58085-4C16-4F3C-AF35-56505966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C2F10-2243-4E68-BA8A-9D532D3B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01757-A025-4B35-BEFC-6DAD1D5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LAUNCH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D47B1-1516-472A-ADC3-A4A1D42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从当前可用到平台级增长的四步走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7E661-9756-4959-A6AB-2C4626E3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路线保持务实：先跑通作品和付费，再进入平台生态审核，最后做创作者增长和模板市场。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29A9D-04EE-4278-B915-22D3E52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228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6BA71-1B36-4025-BFC8-627CD253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现在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20B8A-3B8E-4162-9EA9-947D2D3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H5 商用闭环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35753-2118-4AA9-BFB9-8F9E046F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数据库、短信、支付、AI、发布页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F63BF-7872-4066-B696-CCCC241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B9F89-BED1-4F17-8365-CC52A75D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228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238EF-D07A-4968-B022-B25D3DB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8B08A-443A-43FD-9527-889F921C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抖音/微信小程序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F7898-E987-4A7C-9D72-9AD1FF1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WebView 壳、业务域名、支付审核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B2514-6964-4138-8013-FD0B717F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4B4DF-F14D-41E5-9117-AAAF9F4B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71850"/>
            <a:ext cx="2228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06862-7207-412A-80A9-8FF53893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增长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DFC40-7051-4B0E-90BB-B18326D2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24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抖音开放平台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F09A4-039C-4675-BC54-A18F4B7F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00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视频文案发布、内容挂载、渠道回传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7BB68-094E-437C-9849-F59EA4B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2F428-D45A-42C5-8DC9-DC0F4883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228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7E94E-1816-49C3-86D2-74DA8DF3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81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E7A3D"/>
                </a:solidFill>
                <a:latin typeface="Microsoft YaHei UI"/>
                <a:ea typeface="Microsoft YaHei UI"/>
                <a:cs typeface="Microsoft YaHei UI"/>
              </a:rPr>
              <a:t>规模化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2104B-0F7A-4801-BDC3-FBD975BC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模板与服务商生态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BFAA9-F051-4BC2-85FA-D4362636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4B6350"/>
                </a:solidFill>
                <a:latin typeface="Microsoft YaHei UI"/>
                <a:ea typeface="Microsoft YaHei UI"/>
                <a:cs typeface="Microsoft YaHei UI"/>
              </a:rPr>
              <a:t>短剧模板、角色资产、数据报告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3CC01-1D28-4202-936E-430466C2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94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2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35C5E-B5AF-4569-9EF5-1A833259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3B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83B1E"/>
                </a:solidFill>
                <a:latin typeface="Microsoft YaHei UI"/>
                <a:ea typeface="Microsoft YaHei UI"/>
                <a:cs typeface="Microsoft YaHei UI"/>
              </a:rPr>
              <a:t>关键原则：平台接入不替代内容运营；PlayDrama 负责把作品、数据和交易链路准备到可审核、可复制、可增长。</a:t>
            </a:r>
          </a:p>
        </p:txBody>
      </p:sp>
    </p:spTree>
    <p:extLst>
      <p:ext uri="{BB962C8B-B14F-4D97-AF65-F5344CB8AC3E}">
        <p14:creationId xmlns:p14="http://schemas.microsoft.com/office/powerpoint/2010/main" val="4707645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73774-F381-405B-AB77-ACAB84D6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D8402-E74A-45FB-B981-4DA2B9C2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C0CF-062C-45DA-A009-FA033AE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B2CBE-DE2D-468A-931B-F49EB3F8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63AE-F4EA-402C-9CAF-6093C45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3A934-4CD1-456A-B9DC-050714B6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70E59-EDAB-40AE-847B-58FFF645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FF10F-C98B-422B-9432-3DEFAFC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0D6CD-7AC1-43CE-A37D-C9063EE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AF5DB-23AF-4C24-9965-20D18A4C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5EF4A-3F53-49C4-9368-F7BD1B1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B5891-86A5-446D-9D9B-C10C964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F3D38-12B4-4A32-81E2-5CA01EF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7531-4EF2-4807-8E35-BAE716C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A12E0-8F9D-4F22-BBC5-FF215F8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9FF3E-10FE-41FC-A6EB-2934EE3C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67D28-B4A5-4A37-958E-262398C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06767-5DF4-4D0B-88A4-C4A6F73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56735-BC14-4C31-AE5B-C016D9DA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8049C-5F2A-43FE-83CE-1F7DCE7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8CBF6-1F1C-42B1-8C28-EC86C9EF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444F3-A9C3-4096-B1A1-39D5F7E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7A896-F792-494B-9F56-D33B305A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3CF64-0F1B-469A-A95E-95C860F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18856C-EDC0-4F2F-94E8-065208D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29990-4817-476D-A270-202B21C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AD444-5790-4692-BE1E-79D1DA20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32528-1166-4664-AD37-6CAE2D7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85B155-82FE-47AA-9D09-0D3DD42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CF5EC-BBC7-4185-9549-D16A8C6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D0D1C-AA2C-478F-B83E-AE26BB4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C38DBE-3661-4C57-8D61-FEBADCD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D0D1D-7A09-405E-8806-DC2E7D2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B70393-2241-41DF-83FE-A3AA397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F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85955-6915-4779-B81F-C1FF42AD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F2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DCF03-0DD7-420C-A2AC-56DADED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>
                <a:solidFill>
                  <a:srgbClr val="04160B"/>
                </a:solidFill>
                <a:latin typeface="Segoe UI Symbol"/>
                <a:ea typeface="Segoe UI Symbol"/>
                <a:cs typeface="Segoe UI Symbol"/>
              </a:rPr>
              <a:t>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F74FA-09EA-41A5-98BA-93A21DF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PlayDrama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5A7CB8-830F-4078-B3EB-DEB91CB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B6D8BA"/>
                </a:solidFill>
                <a:latin typeface="Microsoft YaHei UI"/>
                <a:ea typeface="Microsoft YaHei UI"/>
                <a:cs typeface="Microsoft YaHei UI"/>
              </a:rPr>
              <a:t>AI 互动短剧工作台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9370DA-6B2A-488F-8A0B-26F4235C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PARTNER CALL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34252E-C553-4E2E-A0AF-F77D140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招募第一批互动短剧共创伙伴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2EFD01-8AE9-4AAB-86DB-C754BDC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>
                <a:solidFill>
                  <a:srgbClr val="CDE8D0"/>
                </a:solidFill>
                <a:latin typeface="Microsoft YaHei UI"/>
                <a:ea typeface="Microsoft YaHei UI"/>
                <a:cs typeface="Microsoft YaHei UI"/>
              </a:rPr>
              <a:t>适合短剧团队、MCN、内容服务商、文旅项目、品牌互动营销团队。我们一起把第一个可付费、可复盘、可复制的互动短剧样板跑出来。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C19AAA-F245-4551-9A02-63ED56E9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5D2830-A524-489A-8328-BAB34E67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1 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261A14-F00C-49B2-9AA7-4BD8B26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可改造成互动结构的短剧 IP 或故事样本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124AB6-6672-4505-87EA-85D8329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290470-931F-4A95-ABF5-32603FA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7 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62F8BC-4D97-4FC1-8409-7DEA7F4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577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完成剧情图谱、发布页、付费节点和数据看板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BECDBF-3FFB-4C1B-A723-37E4C73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17"/>
          </a:solidFill>
          <a:ln xmlns:a="http://schemas.openxmlformats.org/drawingml/2006/main" w="9525">
            <a:solidFill>
              <a:srgbClr val="3B7A4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9200B0-6579-4AFB-8B2D-1FFD577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7DF2A7"/>
                </a:solidFill>
                <a:latin typeface="Microsoft YaHei UI"/>
                <a:ea typeface="Microsoft YaHei UI"/>
                <a:cs typeface="Microsoft YaHei UI"/>
              </a:rPr>
              <a:t>3 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FBC4DF-352B-4166-A01D-9AFF7769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BBD9BF"/>
                </a:solidFill>
                <a:latin typeface="Microsoft YaHei UI"/>
                <a:ea typeface="Microsoft YaHei UI"/>
                <a:cs typeface="Microsoft YaHei UI"/>
              </a:rPr>
              <a:t>按渠道数据迭代内容和商业化入口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FB35C8-3BD3-4253-B991-AA3B212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609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DE"/>
          </a:solidFill>
          <a:ln xmlns:a="http://schemas.openxmlformats.org/drawingml/2006/main" w="9525">
            <a:solidFill>
              <a:srgbClr val="9FCBA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86DAE6-72FE-4E65-A6BC-E6783B8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579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04160B"/>
                </a:solidFill>
                <a:latin typeface="Microsoft YaHei UI"/>
                <a:ea typeface="Microsoft YaHei UI"/>
                <a:cs typeface="Microsoft YaHei UI"/>
              </a:rPr>
              <a:t>PlayDrama 内测合作 · playdrama.tokenaicloud.com</a:t>
            </a:r>
          </a:p>
        </p:txBody>
      </p:sp>
    </p:spTree>
    <p:extLst>
      <p:ext uri="{BB962C8B-B14F-4D97-AF65-F5344CB8AC3E}">
        <p14:creationId xmlns:p14="http://schemas.microsoft.com/office/powerpoint/2010/main" val="1976274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2026-05-22T08:26:36.2500000Z</dcterms:created>
  <dcterms:modified xsi:type="dcterms:W3CDTF">2026-05-22T08:26:36.2500000Z</dcterms:modified>
</coreProperties>
</file>