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ed85b18f8448df" /><Relationship Type="http://schemas.openxmlformats.org/officeDocument/2006/relationships/extended-properties" Target="/docProps/app.xml" Id="R270004c5839a4531" /><Relationship Type="http://schemas.openxmlformats.org/officeDocument/2006/relationships/officeDocument" Target="/ppt/presentation.xml" Id="R0987879112ce49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9b211c21a04690"/>
  </p:sldMasterIdLst>
  <p:notesMasterIdLst>
    <p:notesMasterId xmlns:r="http://schemas.openxmlformats.org/officeDocument/2006/relationships" r:id="Rd23d68fe512547f8"/>
  </p:notesMasterIdLst>
  <p:sldIdLst>
    <p:sldId xmlns:r="http://schemas.openxmlformats.org/officeDocument/2006/relationships" id="256" r:id="R9fa6b4d55598423e"/>
    <p:sldId xmlns:r="http://schemas.openxmlformats.org/officeDocument/2006/relationships" id="257" r:id="R1116894010d04e44"/>
    <p:sldId xmlns:r="http://schemas.openxmlformats.org/officeDocument/2006/relationships" id="258" r:id="Re08371c33d044711"/>
    <p:sldId xmlns:r="http://schemas.openxmlformats.org/officeDocument/2006/relationships" id="259" r:id="Rd1d3923d9dcf4f37"/>
    <p:sldId xmlns:r="http://schemas.openxmlformats.org/officeDocument/2006/relationships" id="260" r:id="Rec3d1d48c5304504"/>
    <p:sldId xmlns:r="http://schemas.openxmlformats.org/officeDocument/2006/relationships" id="261" r:id="Rfe8f8ff463404ed1"/>
    <p:sldId xmlns:r="http://schemas.openxmlformats.org/officeDocument/2006/relationships" id="262" r:id="Re68e61dfff3543b4"/>
    <p:sldId xmlns:r="http://schemas.openxmlformats.org/officeDocument/2006/relationships" id="263" r:id="Rb23ec5b484a740b7"/>
    <p:sldId xmlns:r="http://schemas.openxmlformats.org/officeDocument/2006/relationships" id="264" r:id="R0857e4ba33b74bf5"/>
    <p:sldId xmlns:r="http://schemas.openxmlformats.org/officeDocument/2006/relationships" id="265" r:id="R20cec06226fc4af0"/>
    <p:sldId xmlns:r="http://schemas.openxmlformats.org/officeDocument/2006/relationships" id="266" r:id="R2af229ceaee14a05"/>
    <p:sldId xmlns:r="http://schemas.openxmlformats.org/officeDocument/2006/relationships" id="267" r:id="Rb01c152c018847ce"/>
    <p:sldId xmlns:r="http://schemas.openxmlformats.org/officeDocument/2006/relationships" id="268" r:id="Rba63e837442c4a7a"/>
    <p:sldId xmlns:r="http://schemas.openxmlformats.org/officeDocument/2006/relationships" id="269" r:id="R2f33631ed2864a2a"/>
    <p:sldId xmlns:r="http://schemas.openxmlformats.org/officeDocument/2006/relationships" id="270" r:id="R0ce5b467ed8147d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9b211c21a04690" /><Relationship Type="http://schemas.openxmlformats.org/officeDocument/2006/relationships/theme" Target="/ppt/theme/theme1.xml" Id="R0cfe5105b8194ea0" /><Relationship Type="http://schemas.openxmlformats.org/officeDocument/2006/relationships/notesMaster" Target="/ppt/notesMasters/notesMaster1.xml" Id="Rd23d68fe512547f8" /><Relationship Type="http://schemas.openxmlformats.org/officeDocument/2006/relationships/presProps" Target="/ppt/presProps.xml" Id="R63690dc4e5744c34" /><Relationship Type="http://schemas.openxmlformats.org/officeDocument/2006/relationships/viewProps" Target="/ppt/viewProps.xml" Id="Rfe03aa14df644dd4" /><Relationship Type="http://schemas.openxmlformats.org/officeDocument/2006/relationships/tableStyles" Target="/ppt/tableStyles.xml" Id="Rb2560e44a40a43ed" /><Relationship Type="http://schemas.openxmlformats.org/officeDocument/2006/relationships/slide" Target="/ppt/slides/slide1.xml" Id="R9fa6b4d55598423e" /><Relationship Type="http://schemas.openxmlformats.org/officeDocument/2006/relationships/slide" Target="/ppt/slides/slide2.xml" Id="R1116894010d04e44" /><Relationship Type="http://schemas.openxmlformats.org/officeDocument/2006/relationships/slide" Target="/ppt/slides/slide3.xml" Id="Re08371c33d044711" /><Relationship Type="http://schemas.openxmlformats.org/officeDocument/2006/relationships/slide" Target="/ppt/slides/slide4.xml" Id="Rd1d3923d9dcf4f37" /><Relationship Type="http://schemas.openxmlformats.org/officeDocument/2006/relationships/slide" Target="/ppt/slides/slide5.xml" Id="Rec3d1d48c5304504" /><Relationship Type="http://schemas.openxmlformats.org/officeDocument/2006/relationships/slide" Target="/ppt/slides/slide6.xml" Id="Rfe8f8ff463404ed1" /><Relationship Type="http://schemas.openxmlformats.org/officeDocument/2006/relationships/slide" Target="/ppt/slides/slide7.xml" Id="Re68e61dfff3543b4" /><Relationship Type="http://schemas.openxmlformats.org/officeDocument/2006/relationships/slide" Target="/ppt/slides/slide8.xml" Id="Rb23ec5b484a740b7" /><Relationship Type="http://schemas.openxmlformats.org/officeDocument/2006/relationships/slide" Target="/ppt/slides/slide9.xml" Id="R0857e4ba33b74bf5" /><Relationship Type="http://schemas.openxmlformats.org/officeDocument/2006/relationships/slide" Target="/ppt/slides/slide10.xml" Id="R20cec06226fc4af0" /><Relationship Type="http://schemas.openxmlformats.org/officeDocument/2006/relationships/slide" Target="/ppt/slides/slide11.xml" Id="R2af229ceaee14a05" /><Relationship Type="http://schemas.openxmlformats.org/officeDocument/2006/relationships/slide" Target="/ppt/slides/slide12.xml" Id="Rb01c152c018847ce" /><Relationship Type="http://schemas.openxmlformats.org/officeDocument/2006/relationships/slide" Target="/ppt/slides/slide13.xml" Id="Rba63e837442c4a7a" /><Relationship Type="http://schemas.openxmlformats.org/officeDocument/2006/relationships/slide" Target="/ppt/slides/slide14.xml" Id="R2f33631ed2864a2a" /><Relationship Type="http://schemas.openxmlformats.org/officeDocument/2006/relationships/slide" Target="/ppt/slides/slide15.xml" Id="R0ce5b467ed8147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b8a922229b342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fe549466c34811" /><Relationship Type="http://schemas.openxmlformats.org/officeDocument/2006/relationships/notesMaster" Target="/ppt/notesMasters/notesMaster1.xml" Id="Re823eb8ff2c144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8441840c1a4b8f" /><Relationship Type="http://schemas.openxmlformats.org/officeDocument/2006/relationships/notesMaster" Target="/ppt/notesMasters/notesMaster1.xml" Id="Rfd86f16d40da41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fb62e108ab41a4" /><Relationship Type="http://schemas.openxmlformats.org/officeDocument/2006/relationships/notesMaster" Target="/ppt/notesMasters/notesMaster1.xml" Id="Reb138665d11f4d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5d8ae84c9f48b0" /><Relationship Type="http://schemas.openxmlformats.org/officeDocument/2006/relationships/notesMaster" Target="/ppt/notesMasters/notesMaster1.xml" Id="R84b60097464043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c031fc597e400b" /><Relationship Type="http://schemas.openxmlformats.org/officeDocument/2006/relationships/notesMaster" Target="/ppt/notesMasters/notesMaster1.xml" Id="Rf3ad9c2fbc7d4e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9a54e5b1294d78" /><Relationship Type="http://schemas.openxmlformats.org/officeDocument/2006/relationships/notesMaster" Target="/ppt/notesMasters/notesMaster1.xml" Id="R8491ad39daa647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9b08a603c2497d" /><Relationship Type="http://schemas.openxmlformats.org/officeDocument/2006/relationships/notesMaster" Target="/ppt/notesMasters/notesMaster1.xml" Id="Rea9d633c0dd54d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802c0f9c17419d" /><Relationship Type="http://schemas.openxmlformats.org/officeDocument/2006/relationships/notesMaster" Target="/ppt/notesMasters/notesMaster1.xml" Id="R90799596c29d4b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6b5ce21de9a47e2" /><Relationship Type="http://schemas.openxmlformats.org/officeDocument/2006/relationships/notesMaster" Target="/ppt/notesMasters/notesMaster1.xml" Id="R7f0e06440d4348b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479dcd1bac4ff8" /><Relationship Type="http://schemas.openxmlformats.org/officeDocument/2006/relationships/notesMaster" Target="/ppt/notesMasters/notesMaster1.xml" Id="R5ec4bc77edf94d8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6d941d293f348f5" /><Relationship Type="http://schemas.openxmlformats.org/officeDocument/2006/relationships/notesMaster" Target="/ppt/notesMasters/notesMaster1.xml" Id="Rd15f5c68af37417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433dffd9c0d4eed" /><Relationship Type="http://schemas.openxmlformats.org/officeDocument/2006/relationships/notesMaster" Target="/ppt/notesMasters/notesMaster1.xml" Id="R830e6c23822c412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3815a7362b64f51" /><Relationship Type="http://schemas.openxmlformats.org/officeDocument/2006/relationships/notesMaster" Target="/ppt/notesMasters/notesMaster1.xml" Id="R72ae02b0394e4ac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cd1ce86afe740ed" /><Relationship Type="http://schemas.openxmlformats.org/officeDocument/2006/relationships/notesMaster" Target="/ppt/notesMasters/notesMaster1.xml" Id="R350db9eb1c46499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bec5036e8e1477b" /><Relationship Type="http://schemas.openxmlformats.org/officeDocument/2006/relationships/notesMaster" Target="/ppt/notesMasters/notesMaster1.xml" Id="R0ed64832da4243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7771824a404dc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66357810f6843c6" /><Relationship Type="http://schemas.openxmlformats.org/officeDocument/2006/relationships/slideLayout" Target="/ppt/slideLayouts/slideLayout2.xml" Id="Rc1791bb7d4d946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791bb7d4d946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cb1f84ada8460a" /><Relationship Type="http://schemas.openxmlformats.org/officeDocument/2006/relationships/image" Target="/ppt/media/image.png" Id="Reb48026fd4884804" /><Relationship Type="http://schemas.openxmlformats.org/officeDocument/2006/relationships/notesSlide" Target="/ppt/notesSlides/notesSlide1.xml" Id="Rca2def2a2c2f41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e3b19bc0f54c94" /><Relationship Type="http://schemas.openxmlformats.org/officeDocument/2006/relationships/notesSlide" Target="/ppt/notesSlides/notesSlide2.xml" Id="Rf12d9cf6978f4f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004f58f29a4d15" /><Relationship Type="http://schemas.openxmlformats.org/officeDocument/2006/relationships/notesSlide" Target="/ppt/notesSlides/notesSlide3.xml" Id="R27b6f5c6b2cb42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de1a7236a14731" /><Relationship Type="http://schemas.openxmlformats.org/officeDocument/2006/relationships/notesSlide" Target="/ppt/notesSlides/notesSlide4.xml" Id="R944269e8e6fb45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4ba52262cb427a" /><Relationship Type="http://schemas.openxmlformats.org/officeDocument/2006/relationships/notesSlide" Target="/ppt/notesSlides/notesSlide5.xml" Id="R8a370f7df9594e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cfd7c64568485d" /><Relationship Type="http://schemas.openxmlformats.org/officeDocument/2006/relationships/notesSlide" Target="/ppt/notesSlides/notesSlide6.xml" Id="R1441ada9165246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c0b7a52a2549cc" /><Relationship Type="http://schemas.openxmlformats.org/officeDocument/2006/relationships/image" Target="/ppt/media/image2.png" Id="R8592317e9a204681" /><Relationship Type="http://schemas.openxmlformats.org/officeDocument/2006/relationships/notesSlide" Target="/ppt/notesSlides/notesSlide7.xml" Id="R723c90fbfbc847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6dd8eefea840e7" /><Relationship Type="http://schemas.openxmlformats.org/officeDocument/2006/relationships/image" Target="/ppt/media/image3.png" Id="Rdffd2163a4124946" /><Relationship Type="http://schemas.openxmlformats.org/officeDocument/2006/relationships/notesSlide" Target="/ppt/notesSlides/notesSlide8.xml" Id="R781831790fc544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b9689694564cbd" /><Relationship Type="http://schemas.openxmlformats.org/officeDocument/2006/relationships/notesSlide" Target="/ppt/notesSlides/notesSlide9.xml" Id="R0c0c2967c164470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c0492019a04136" /><Relationship Type="http://schemas.openxmlformats.org/officeDocument/2006/relationships/notesSlide" Target="/ppt/notesSlides/notesSlide10.xml" Id="R5b673617c71845d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236bb69a2145ac" /><Relationship Type="http://schemas.openxmlformats.org/officeDocument/2006/relationships/notesSlide" Target="/ppt/notesSlides/notesSlide11.xml" Id="R4c3c1a5191c143e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412d9003564737" /><Relationship Type="http://schemas.openxmlformats.org/officeDocument/2006/relationships/notesSlide" Target="/ppt/notesSlides/notesSlide12.xml" Id="Rcbf6e5c420934cc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2aa4405cab4ddc" /><Relationship Type="http://schemas.openxmlformats.org/officeDocument/2006/relationships/image" Target="/ppt/media/image4.png" Id="R093004c52720411c" /><Relationship Type="http://schemas.openxmlformats.org/officeDocument/2006/relationships/image" Target="/ppt/media/image5.png" Id="Rd569de67e9e24b67" /><Relationship Type="http://schemas.openxmlformats.org/officeDocument/2006/relationships/notesSlide" Target="/ppt/notesSlides/notesSlide13.xml" Id="R293b623aae47446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bed21f6eba4db3" /><Relationship Type="http://schemas.openxmlformats.org/officeDocument/2006/relationships/notesSlide" Target="/ppt/notesSlides/notesSlide14.xml" Id="R5cf0ea11c474436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361ff8bf5f424d" /><Relationship Type="http://schemas.openxmlformats.org/officeDocument/2006/relationships/notesSlide" Target="/ppt/notesSlides/notesSlide15.xml" Id="R98c0bd4073b84cc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BF68B6-F8BD-4033-8719-4391C0CA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F029F-F40B-4EF2-96F1-3938269E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081ED-84D1-4D24-B8A3-97490125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0"/>
            <a:ext cx="4286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48026fd4884804"/>
          <a:srcRect xmlns:a="http://schemas.openxmlformats.org/drawingml/2006/main" l="10058" t="0" r="100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34300" y="552450"/>
            <a:ext cx="3676650" cy="57531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A700F0-82B5-40EE-B83C-0AA66A49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457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512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221FF74C-B8B8-4FB3-8C72-ADFFA15B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D9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F4ECAC5B-9C2A-4BCA-84D2-699AABF8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43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F4D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B8F4D3"/>
                </a:solidFill>
                <a:latin typeface="Microsoft YaHei UI"/>
                <a:ea typeface="Microsoft YaHei UI"/>
                <a:cs typeface="Microsoft YaHei UI"/>
              </a:rPr>
              <a:t>路演主张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3778CB-2146-4518-B656-F86076C8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6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PlayDrama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6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宣传视频路演稿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64E852-F6B1-4CE6-B4AC-4E79B727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628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DF7E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DDF7E9"/>
                </a:solidFill>
                <a:latin typeface="Microsoft YaHei UI"/>
                <a:ea typeface="Microsoft YaHei UI"/>
                <a:cs typeface="Microsoft YaHei UI"/>
              </a:rPr>
              <a:t>PlayDrama 需要一支卖“系统”的宣传片，而不是又一个 AI 工具演示。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EA6818-C9C8-41BB-B6AC-4135E064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561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CE8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BCE8D2"/>
                </a:solidFill>
                <a:latin typeface="Microsoft YaHei UI"/>
                <a:ea typeface="Microsoft YaHei UI"/>
                <a:cs typeface="Microsoft YaHei UI"/>
              </a:rPr>
              <a:t>目标：用一支 40 秒主片，把“互动短剧工作台”讲成中国创作者能立刻理解的商业闭环。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4D5939-3FC6-48B0-B116-821D5A3C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78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D7E312-49FD-47C3-B62C-AE32AFFC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24475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痛点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7DF60B-1962-4CBB-AF03-52802077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4102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D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2C9C00-B54A-42C8-BCC4-CF3B2FAF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9700"/>
            <a:ext cx="78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53DC08-E38D-4E6E-B693-CA91D1A2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24475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系统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E8B4DC-2758-4AA7-9C2A-5235100B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4102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D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D80210-CD0B-4FC2-98AE-E620BA94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19700"/>
            <a:ext cx="78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A04407-8A61-4945-9064-C7D4A705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24475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证据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2BAE59-2338-419D-95B8-CE891B6F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4102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D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289235-D8E7-4025-803D-42D226E7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19700"/>
            <a:ext cx="78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14463B-3939-4E25-B143-3FBEF047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24475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渠道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68310B-A9CA-4EB9-AD05-AC59722E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4102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D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562A2E-BAF7-475A-B527-07434BFA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19700"/>
            <a:ext cx="78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7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6C4A5D-47CD-490E-A5E4-42240771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24475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变现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4EACFF-B75E-4C30-B360-AB305BEB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4102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D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3B4A7C-9FD7-48BC-BBE5-927ACED9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219700"/>
            <a:ext cx="78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ABC84D-E64D-43DA-9269-A5FFB4D8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324475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邀约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FDA765-E82B-4721-9E77-2063A22F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rPr>
              <a:t>输出：15 页 PPT 路演稿 + 宣传视频方案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78E059-A172-40BF-9D76-5584441F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rPr>
              <a:t>01 / 15</a:t>
            </a:r>
          </a:p>
        </p:txBody>
      </p:sp>
    </p:spTree>
    <p:extLst>
      <p:ext uri="{BB962C8B-B14F-4D97-AF65-F5344CB8AC3E}">
        <p14:creationId xmlns:p14="http://schemas.microsoft.com/office/powerpoint/2010/main" val="149734372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7FA03D-0ABD-4B22-9551-9946A299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A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A5E71A9C-6589-470D-B7FF-37C937F4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2C80EBCC-570E-4A2D-9DF0-67CADBC7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43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36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00A36C"/>
                </a:solidFill>
                <a:latin typeface="Microsoft YaHei UI"/>
                <a:ea typeface="Microsoft YaHei UI"/>
                <a:cs typeface="Microsoft YaHei UI"/>
              </a:rPr>
              <a:t>市场阶段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668B9-4F17-42CA-8493-86162652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7905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00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短剧从内容爆发进入工业化阶段，下一轮差异来自生产与变现闭环。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707131-F442-4B57-8E19-83663264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600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不引用未验证市场规模，重点呈现产业阶段变化和交付压力。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097E36-70A0-43EE-BA9F-AE98B30A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10125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BD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4E2886-0455-467E-A5A3-B7946535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81250"/>
            <a:ext cx="190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BD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519D7-44B8-4896-A0F2-4089E849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9625"/>
            <a:ext cx="1222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3B540B-9EB8-4E8C-9426-604FE52D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9125" y="4575175"/>
            <a:ext cx="122237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D6BAE5-15DE-4F6C-B0D3-AD1BF239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750" y="4530725"/>
            <a:ext cx="1222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659AE0-E560-41E9-A28D-E641EDDC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486275"/>
            <a:ext cx="122237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0D38C6-5FCC-4786-B23A-F5593A93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3000" y="4441825"/>
            <a:ext cx="1222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C0C31F-AB09-431C-8B1C-D759504A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7625" y="4397375"/>
            <a:ext cx="122237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C96524-3E10-4196-BD49-B03E5BEF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52925"/>
            <a:ext cx="122237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713D0B-903D-4C9D-969A-286FC16B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6875" y="4308475"/>
            <a:ext cx="122237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C42BDC-AC7E-4FD0-AFD7-202C5EBD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264025"/>
            <a:ext cx="1222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CB5EEC-F80C-4E11-B854-524285DA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219575"/>
            <a:ext cx="1222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5956AB-9956-44EA-A0B8-2C07E9CF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0" y="4175125"/>
            <a:ext cx="122237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7E3923-DCBB-41C7-8D37-66F1BA9E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5375" y="4130675"/>
            <a:ext cx="1222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3EEF3A-9636-4906-9978-7C3AB73D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8622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4549BB-5EB0-4C33-8B30-CD741257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27488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381DDA-CE1A-4233-8249-B21C6D10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68750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17159B-922E-4479-95B8-5B9E8DB8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10013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3F7066-DCDB-4D9F-BE18-58A7ADA7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5127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DE6994-6F26-4B63-B3A0-BBCE2E02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92538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FC4288-DBAE-40D0-A260-11E14CFA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33800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94D420-2DFF-41B5-BAD0-DC186B01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75063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55532A-C1CF-4B3E-8FD4-9425F457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632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FB0726-D923-4F70-AF59-34512F6F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57588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096DEF-37D0-4C00-8B94-FE2AB542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98850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E79E74-5155-4B48-8BBE-A32FA13A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40113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B306AD-8BA0-4199-9DF9-942C7422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81375"/>
            <a:ext cx="14446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70059F-95CE-447C-B4AE-0FC69FFD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375" y="3311525"/>
            <a:ext cx="1444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4F8646-51D9-4FCE-8CD2-EF8AA2A7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750" y="3241675"/>
            <a:ext cx="14446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B38142-11CF-4AD7-9548-8E5C42C3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171825"/>
            <a:ext cx="14446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056585-6196-4253-8085-D40985CE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1500" y="3101975"/>
            <a:ext cx="1444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86B5D7-BC39-4A51-A476-F7C5946E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7875" y="3032125"/>
            <a:ext cx="14446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77A75F-0A17-41B0-94EE-B0E48680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62275"/>
            <a:ext cx="14446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BFE240-660A-455A-8B20-D13B64A7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0625" y="2892425"/>
            <a:ext cx="1444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97C8D79-8D9E-4C38-BEFA-2D34B385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7000" y="2822575"/>
            <a:ext cx="14446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A55D62-4D20-405C-8235-D6456312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52725"/>
            <a:ext cx="14446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961184-38F0-4CFA-A971-0ED947AA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750" y="2682875"/>
            <a:ext cx="1444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C97323E-9912-42E3-BC2F-58FF7011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125" y="2613025"/>
            <a:ext cx="14446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1D3D76A-EA5D-4F7D-B2C1-8676888D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533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89B42AF-0087-4294-8DCD-D7BFB0C4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91075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内容尝鲜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8B20C07-BA05-469C-9034-E3167F25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38725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低门槛拍摄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9ABDFF-C11F-4F39-98E0-2670AFF2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000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2CA0330-DCF3-4727-914B-1C9B4078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257675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规模投放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0F2C5C-BDF7-405E-BAA9-58D46D21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05325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模板化复制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7B1B71F-1EC4-44FE-80C1-025CD374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295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4CFB0AF-FF4E-4B78-B9B5-BC052659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552825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付费转化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5A9E8F9-B679-40D1-92D2-44ABBC64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00475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结局/会员/私域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B189D79-1A35-424F-859D-EAD7F88D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457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7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0AE7502-8C52-42FF-B62C-12BA1DEE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14625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工业闭环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7BE585F-EC8E-48D1-A6C3-891FB01D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62275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生产、审核、支付、数据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779CE6B-E95A-414E-8D9C-6D1ED390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0520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D7C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89C3914-327F-4E6E-8E1E-E54EBEE9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5760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宣传片主语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681DBFC-E551-4D00-B414-F45E588C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43350"/>
            <a:ext cx="25146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不讲“我们有 AI”，而讲“我们把互动短剧变成可运营的生产系统”。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649DD1A-43D0-479F-90D7-39440CDE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80060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D7C2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8ACD7A6-8DB7-43BF-BFDC-DEEA4043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5300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事实约束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8F220F6-7D94-46B7-8494-348A3836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38750"/>
            <a:ext cx="2514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当前没有公开收入与转化数据，因此路演稿用产品就绪度和链路完整性作为证据。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BA9441E-542A-4DF7-8FBB-08352386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rPr>
              <a:t>PlayDrama Studio 路演稿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6CD71D8-8029-4C56-BCF2-8A8D100E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rPr>
              <a:t>02 / 15</a:t>
            </a:r>
          </a:p>
        </p:txBody>
      </p:sp>
    </p:spTree>
    <p:extLst>
      <p:ext uri="{BB962C8B-B14F-4D97-AF65-F5344CB8AC3E}">
        <p14:creationId xmlns:p14="http://schemas.microsoft.com/office/powerpoint/2010/main" val="189563672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1ACC5D-9C2C-4CD5-9100-06358955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D9CCBA62-BE7D-479E-A244-1DF4F304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1661D600-1B0E-4EF0-8B6C-9560692D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43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36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00A36C"/>
                </a:solidFill>
                <a:latin typeface="Microsoft YaHei UI"/>
                <a:ea typeface="Microsoft YaHei UI"/>
                <a:cs typeface="Microsoft YaHei UI"/>
              </a:rPr>
              <a:t>核心断点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4F141-A977-453A-B968-C1E6CF53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7810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互动短剧真正的卡点不是写剧本，而是工具链在发布和收款前断开。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B08FB3-C308-4F62-A011-26391CB9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600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分支剧情、内容安全、渠道包、支付回调和数据复盘必须连在一起。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239E16-8A60-445B-8615-C4295672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1600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5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B760CD-8F02-4AD1-BDD8-0D5EA161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创意 / 剧本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E311E8-1D24-44CC-9045-64CFABC3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AI 生成后难以变成可测分支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9869F6-200D-47E7-AFA9-840DC4B7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467100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B6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9D66A9-0234-4F60-A2C6-43CEA965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238500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45E4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E45E4C"/>
                </a:solidFill>
                <a:latin typeface="Microsoft YaHei UI"/>
                <a:ea typeface="Microsoft YaHei UI"/>
                <a:cs typeface="Microsoft YaHei UI"/>
              </a:rPr>
              <a:t>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EAB235-9A10-47D4-97B8-3397D183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28950"/>
            <a:ext cx="1600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5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459436-FE59-45EC-8058-B3CC6436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8135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分支图谱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D2C9FB-E185-42C8-ACF5-9DA06F9D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6710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节点、变量、付费点难统一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8E35E9-6459-4EB7-AFCA-DBAE47BE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67100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B6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2BDB7C-8E2A-4903-B086-EF180450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38500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45E4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E45E4C"/>
                </a:solidFill>
                <a:latin typeface="Microsoft YaHei UI"/>
                <a:ea typeface="Microsoft YaHei UI"/>
                <a:cs typeface="Microsoft YaHei UI"/>
              </a:rPr>
              <a:t>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6D6AF0-E597-4682-820D-0B6B95A2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28950"/>
            <a:ext cx="1600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5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14296D-2773-4B91-801B-76807A6A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8135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上线审核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6D5FF3-2E03-440D-8DF8-26253F22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46710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安全、版本、门禁靠人工记忆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BC8122-A93D-4473-B9CE-5A66191C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67100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B6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E35623-F5A1-4EF3-806D-7EED6645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38500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45E4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E45E4C"/>
                </a:solidFill>
                <a:latin typeface="Microsoft YaHei UI"/>
                <a:ea typeface="Microsoft YaHei UI"/>
                <a:cs typeface="Microsoft YaHei UI"/>
              </a:rPr>
              <a:t>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BE23A5-E08F-4B61-82D9-97651464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28950"/>
            <a:ext cx="1600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5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BD0476-D80B-4C3A-B75A-3A22CF96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8135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渠道发布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BCFEE3-EE7B-4129-91D0-9CD01101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6710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H5、小程序、短视频各自为政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A2FE51-65B0-42DA-95B9-6D334B08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67100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B6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BC3E3E-A168-4CC9-B286-149EA167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38500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45E4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E45E4C"/>
                </a:solidFill>
                <a:latin typeface="Microsoft YaHei UI"/>
                <a:ea typeface="Microsoft YaHei UI"/>
                <a:cs typeface="Microsoft YaHei UI"/>
              </a:rPr>
              <a:t>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8C89B3-235E-4DA1-BFA6-FC5018D8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28950"/>
            <a:ext cx="1600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5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C7D3F6-9F03-4CC1-8993-EEBC682C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8135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支付数据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53292D-6EA4-4879-B89A-80EEC607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6710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回调、解锁、复盘链路断裂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71C9FC-087A-4B13-BF50-2F7CA334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8204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E"/>
          </a:solidFill>
          <a:ln xmlns:a="http://schemas.openxmlformats.org/drawingml/2006/main" w="9525">
            <a:solidFill>
              <a:srgbClr val="F0C7B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610427-0433-459C-AD04-902DF525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904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C241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5C241E"/>
                </a:solidFill>
                <a:latin typeface="Microsoft YaHei UI"/>
                <a:ea typeface="Microsoft YaHei UI"/>
                <a:cs typeface="Microsoft YaHei UI"/>
              </a:rPr>
              <a:t>宣传片必须把“断点”拍清楚：不是创作者不会写故事，而是一个互动短剧要经过生产、审核、发布、收款和复盘。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280540-A611-4EC5-8910-B5EA3718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rPr>
              <a:t>PlayDrama Studio 路演稿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681CCE-DB7D-4AF9-9C22-9238CAE7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rPr>
              <a:t>03 / 15</a:t>
            </a:r>
          </a:p>
        </p:txBody>
      </p:sp>
    </p:spTree>
    <p:extLst>
      <p:ext uri="{BB962C8B-B14F-4D97-AF65-F5344CB8AC3E}">
        <p14:creationId xmlns:p14="http://schemas.microsoft.com/office/powerpoint/2010/main" val="152631114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AF1082-CFD8-4644-96B3-805BF175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43D4EF5B-4E92-41C3-890B-CF24377D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D9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6911E68E-16B9-4E3C-B6B8-6183DA8B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43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F4D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B8F4D3"/>
                </a:solidFill>
                <a:latin typeface="Microsoft YaHei UI"/>
                <a:ea typeface="Microsoft YaHei UI"/>
                <a:cs typeface="Microsoft YaHei UI"/>
              </a:rPr>
              <a:t>产品系统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B5D973-7960-4846-8CDE-C497C6D0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723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PlayDrama 把创作工作台升级为从故事到付费结局的操作系统。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B645ED-C4A7-4CC7-AFA2-C92F0458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619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EBD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CBEBDD"/>
                </a:solidFill>
                <a:latin typeface="Microsoft YaHei UI"/>
                <a:ea typeface="Microsoft YaHei UI"/>
                <a:cs typeface="Microsoft YaHei UI"/>
              </a:rPr>
              <a:t>平台地图必须让观众看到工作流、验收门禁和收入路径。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1A554F-59CA-4DF1-95A1-C13B8347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33750"/>
            <a:ext cx="2667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B2E"/>
          </a:solidFill>
          <a:ln xmlns:a="http://schemas.openxmlformats.org/drawingml/2006/main" w="9525">
            <a:solidFill>
              <a:srgbClr val="46B98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83EC5E-61DA-4BDF-8846-92A44E5C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600450"/>
            <a:ext cx="228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PlayDrama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上线工作台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B31496-27E3-415F-8806-2E82BC3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333875"/>
            <a:ext cx="2133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B8F4D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B8F4D3"/>
                </a:solidFill>
                <a:latin typeface="Microsoft YaHei UI"/>
                <a:ea typeface="Microsoft YaHei UI"/>
                <a:cs typeface="Microsoft YaHei UI"/>
              </a:rPr>
              <a:t>一个闭环，而不是一组功能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4CFC3F-E1BB-4D63-AB37-2CB5DB12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390900"/>
            <a:ext cx="3019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7022C6-2BA2-49CC-A38A-8DBFEF80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432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4"/>
          </a:solidFill>
          <a:ln xmlns:a="http://schemas.openxmlformats.org/drawingml/2006/main" w="19050">
            <a:solidFill>
              <a:srgbClr val="00A36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B9ED97-217A-4138-8707-E2FE641C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2956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AI 创作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AAF488-0707-48F1-B9E0-C6686659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971800"/>
            <a:ext cx="1076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32399D-6C82-4464-A59B-775A6969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241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4"/>
          </a:solidFill>
          <a:ln xmlns:a="http://schemas.openxmlformats.org/drawingml/2006/main" w="19050">
            <a:solidFill>
              <a:srgbClr val="0A84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22498B-DCA4-4622-8416-4465F338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765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剧情图谱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DB3589-BB1E-40A1-820B-5F6427D3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71800"/>
            <a:ext cx="1476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D29B62-E4B5-4F54-947C-FC25CACC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241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4"/>
          </a:solidFill>
          <a:ln xmlns:a="http://schemas.openxmlformats.org/drawingml/2006/main" w="19050">
            <a:solidFill>
              <a:srgbClr val="F6C74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1235C5-3588-46AA-ACCF-77E53069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765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安全门禁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4BBFA2-2D9C-4D16-95C4-5D00B855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90900"/>
            <a:ext cx="3419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763F7E-4B01-4F55-8B33-3965F12E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432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4"/>
          </a:solidFill>
          <a:ln xmlns:a="http://schemas.openxmlformats.org/drawingml/2006/main" w="19050">
            <a:solidFill>
              <a:srgbClr val="74D99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CCF9C9-7D09-4D20-ADD9-62C0D40D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956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H5 / 小程序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4E1D93-8F39-49B3-9D5F-DB3F0438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00500"/>
            <a:ext cx="2486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3115CC-ADCA-404F-AFF6-5E6481EF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196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4"/>
          </a:solidFill>
          <a:ln xmlns:a="http://schemas.openxmlformats.org/drawingml/2006/main" w="19050">
            <a:solidFill>
              <a:srgbClr val="F6C74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B3D782-508C-47F1-B273-2493754D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720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支付解锁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E8CEAB-F169-4ED1-9626-D8819F79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000500"/>
            <a:ext cx="1076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9EF44C-6646-48BA-BD03-D91234C6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196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4"/>
          </a:solidFill>
          <a:ln xmlns:a="http://schemas.openxmlformats.org/drawingml/2006/main" w="19050">
            <a:solidFill>
              <a:srgbClr val="0A84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D22136-FECC-43F7-AE37-569941CC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9720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数据复盘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4C58FC-D67E-4E13-A6EB-EC032B0A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62550"/>
            <a:ext cx="171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25"/>
          </a:solidFill>
          <a:ln xmlns:a="http://schemas.openxmlformats.org/drawingml/2006/main" w="9525">
            <a:solidFill>
              <a:srgbClr val="3E7F6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BD82A3-2F4A-443F-BE57-06080CF8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95900"/>
            <a:ext cx="137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4D99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74D99B"/>
                </a:solidFill>
                <a:latin typeface="Microsoft YaHei UI"/>
                <a:ea typeface="Microsoft YaHei UI"/>
                <a:cs typeface="Microsoft YaHei UI"/>
              </a:rPr>
              <a:t>17/17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08201F-7187-4142-9853-101FFC8A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67375"/>
            <a:ext cx="137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EBD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CBEBDD"/>
                </a:solidFill>
                <a:latin typeface="Microsoft YaHei UI"/>
                <a:ea typeface="Microsoft YaHei UI"/>
                <a:cs typeface="Microsoft YaHei UI"/>
              </a:rPr>
              <a:t>商用门禁通过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8FC8FB-4EC1-4E96-A5BC-FB95E050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162550"/>
            <a:ext cx="2190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25"/>
          </a:solidFill>
          <a:ln xmlns:a="http://schemas.openxmlformats.org/drawingml/2006/main" w="9525">
            <a:solidFill>
              <a:srgbClr val="3E7F6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87A3F5-2160-446E-AE8E-71B4A1E6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295900"/>
            <a:ext cx="1847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6C74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6C74F"/>
                </a:solidFill>
                <a:latin typeface="Microsoft YaHei UI"/>
                <a:ea typeface="Microsoft YaHei UI"/>
                <a:cs typeface="Microsoft YaHei UI"/>
              </a:rPr>
              <a:t>双支付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FA4270-A682-40B5-B0CF-7A26BE30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667375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EBD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CBEBDD"/>
                </a:solidFill>
                <a:latin typeface="Microsoft YaHei UI"/>
                <a:ea typeface="Microsoft YaHei UI"/>
                <a:cs typeface="Microsoft YaHei UI"/>
              </a:rPr>
              <a:t>支付宝 + 微信支付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D9BD91-B332-4973-A37C-24DD1F20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162550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25"/>
          </a:solidFill>
          <a:ln xmlns:a="http://schemas.openxmlformats.org/drawingml/2006/main" w="9525">
            <a:solidFill>
              <a:srgbClr val="3E7F6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2BB840-5C01-4D64-9511-41CFE04B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295900"/>
            <a:ext cx="1752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4D99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74D99B"/>
                </a:solidFill>
                <a:latin typeface="Microsoft YaHei UI"/>
                <a:ea typeface="Microsoft YaHei UI"/>
                <a:cs typeface="Microsoft YaHei UI"/>
              </a:rPr>
              <a:t>国内栈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1B23D6-8D24-481E-BE9B-5EF6ABFE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667375"/>
            <a:ext cx="175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EBD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CBEBDD"/>
                </a:solidFill>
                <a:latin typeface="Microsoft YaHei UI"/>
                <a:ea typeface="Microsoft YaHei UI"/>
                <a:cs typeface="Microsoft YaHei UI"/>
              </a:rPr>
              <a:t>RDS / SMS / 千问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2A21B1-370B-4632-BA29-30477B44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rPr>
              <a:t>证据：当前生产 readiness / payment provider 状态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D765C8-5E38-40DB-8A5E-109CFA5A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rPr>
              <a:t>04 / 15</a:t>
            </a:r>
          </a:p>
        </p:txBody>
      </p:sp>
    </p:spTree>
    <p:extLst>
      <p:ext uri="{BB962C8B-B14F-4D97-AF65-F5344CB8AC3E}">
        <p14:creationId xmlns:p14="http://schemas.microsoft.com/office/powerpoint/2010/main" val="130743700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56985C-1751-4CFB-842C-DAB8781E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A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BF7FEEDF-9552-49E8-B816-D0C86621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13F298E9-6C6E-475F-B775-D7D8C0A8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43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36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00A36C"/>
                </a:solidFill>
                <a:latin typeface="Microsoft YaHei UI"/>
                <a:ea typeface="Microsoft YaHei UI"/>
                <a:cs typeface="Microsoft YaHei UI"/>
              </a:rPr>
              <a:t>目标客户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1E43D6-A371-4EF4-A9A6-E03697CB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首批买单者是想做互动短剧，但缺少工业化团队的小团队。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4DBCB6-09C5-4D35-B772-B716C2DD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600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宣传片要直接命中创作者、MCN/短剧团队、品牌内容工作室三类人。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9AC9A7-0606-4CF1-AEC3-42DEC198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1038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2BE6AE-979D-4142-9E5C-CA3DA1DF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003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人群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89521E-D14B-44DC-BA3C-735D3967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003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当前压力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1EF9D5-C7F9-4822-8D2B-B33701BE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003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视频里要击中的一句话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0A8796-1086-44D3-AD1B-9DFD218F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10382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ED"/>
          </a:solidFill>
          <a:ln xmlns:a="http://schemas.openxmlformats.org/drawingml/2006/main" w="9525">
            <a:solidFill>
              <a:srgbClr val="BBD7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88D9AF-A630-4F40-9B38-F9C652E6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718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独立创作者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3C14FD-B30D-42E8-941B-6DF2B692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337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有创意与粉丝，但缺少发布/收款系统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932485-A4D4-48FF-9B73-7819F1D9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337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36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00A36C"/>
                </a:solidFill>
                <a:latin typeface="Microsoft YaHei UI"/>
                <a:ea typeface="Microsoft YaHei UI"/>
                <a:cs typeface="Microsoft YaHei UI"/>
              </a:rPr>
              <a:t>最快看懂“从点子到付费结局”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74B956-D95C-46EE-8521-AD7196F8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62400"/>
            <a:ext cx="10382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D7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612F54-0DEB-4C16-B736-72BBA5C0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910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短剧/MCN 小队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408EF5-5357-48C3-9935-6DCE5511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1529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能做内容，但互动玩法与数据复盘弱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F6749E-8FA5-4093-8931-33B6370A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1529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84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0A84FF"/>
                </a:solidFill>
                <a:latin typeface="Microsoft YaHei UI"/>
                <a:ea typeface="Microsoft YaHei UI"/>
                <a:cs typeface="Microsoft YaHei UI"/>
              </a:rPr>
              <a:t>最关心上线效率和渠道复用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D28DC9-C4DF-4AA8-AE33-9BB02F79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10382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ED"/>
          </a:solidFill>
          <a:ln xmlns:a="http://schemas.openxmlformats.org/drawingml/2006/main" w="9525">
            <a:solidFill>
              <a:srgbClr val="BBD7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A8619E-A819-459D-B8E2-8509F4CD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101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品牌内容工作室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3F0657-94B7-4417-8F48-5FAAC611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9720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需要可控试错和合规交付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981D60-EBD2-4C29-A8E5-782968A5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9720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最关心门禁、版本、团队协作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30F758-B557-4517-8F72-87F0DADB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143000"/>
            <a:ext cx="2762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D7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90436C-2C5E-497E-8A9E-C1C9BA72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295400"/>
            <a:ext cx="2419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镜头原则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CBEBC4-E6D9-46D9-AF56-B3A695B3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81150"/>
            <a:ext cx="2419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每一个功能镜头都要回答一个买方问题：能不能更快上线？能不能变现？能不能复盘？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E93531-13E4-467F-A41B-A1CFE9F4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rPr>
              <a:t>PlayDrama Studio 路演稿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795BD9-15F8-4A63-89B1-A48D95E2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rPr>
              <a:t>05 / 15</a:t>
            </a:r>
          </a:p>
        </p:txBody>
      </p:sp>
    </p:spTree>
    <p:extLst>
      <p:ext uri="{BB962C8B-B14F-4D97-AF65-F5344CB8AC3E}">
        <p14:creationId xmlns:p14="http://schemas.microsoft.com/office/powerpoint/2010/main" val="122651973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8D89D6-0ECC-417E-A7FF-72B56239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6006D7F5-DDDB-4278-95A4-FE513D07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46186375-DDEB-4012-91D7-98E34F3F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43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36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00A36C"/>
                </a:solidFill>
                <a:latin typeface="Microsoft YaHei UI"/>
                <a:ea typeface="Microsoft YaHei UI"/>
                <a:cs typeface="Microsoft YaHei UI"/>
              </a:rPr>
              <a:t>影片结构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979326-F967-453D-9582-16A2179A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7239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40 秒影片用“问题、系统、证据、渠道、邀约”推动转化。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1B3EAD-D1A1-4C05-9466-8BA8945B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600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每 4 秒一个明确镜头任务，保持短视频平台里的信息密度。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90A91-B20F-4F23-AF02-C2FF711E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10382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C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1AC5E6-C925-4D07-A0BB-508B8626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480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B39B37-FFD9-4544-B400-D210035B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0-4s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2A057C-78BA-444E-976A-57C1BC18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195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开场命题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25CF74-9F21-4586-A2E1-4C4C9313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314825"/>
            <a:ext cx="1257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把互动短剧变成可上线的生产系统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55030B-E776-4EF0-877F-11C7F332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480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AD03DC-C4F1-4556-B09B-8DCC81DA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2194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4-8s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2C9E97-61E3-4D8D-A28C-CD46A9E3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0195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行业压力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2866EA-5DB0-42C7-BEC0-795F4B26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14825"/>
            <a:ext cx="1257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短剧进入工业化，不只是写故事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38EB97-4AF2-43E9-B675-72B04DB4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480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C4E9CC-622A-45C0-8368-AB4731C1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194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8-12s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80B0FC-9951-411C-9123-284D088A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195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断点呈现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B64148-06CB-4AB6-B38C-A487E8C8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14825"/>
            <a:ext cx="1257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创作、审核、发布、收款被割裂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0BDED2-8372-430E-AB9D-2DECAD32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480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405131-4948-43D6-B0D8-2C5F2B86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12-20s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DE7DEE-2545-40BE-A858-D1AE3181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195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平台地图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D71CC9-E956-44A1-A240-29581E1F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314825"/>
            <a:ext cx="1257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AI 图谱、门禁、发布、支付同屏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FF1C8E-9229-4EC6-B001-2AD02FAB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480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DDD257-04BC-4930-9787-BB940F72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194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20-28s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609281-F193-47FC-BB05-77521171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195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产品证据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48E17A-F24C-489E-B3F0-48A3F29E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14825"/>
            <a:ext cx="1257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真实工作台、17/17、双支付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E44E99-3059-42C4-8800-DF94860E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480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7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D506D5-A745-4F38-AAC2-1D227D25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194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28-36s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8B1ADA-F596-4461-883D-1568F599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195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渠道路径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DBB7A7-EDCA-4B1C-B2D1-36D49F24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314825"/>
            <a:ext cx="1257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H5、抖音、微信小程序任务流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82B9C6-9683-40C3-B06B-4C91C440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6480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7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6060CA-AB00-477E-AB86-509CABF2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194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36-40s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9DA4DA-48AC-48CD-93E3-6CD24A9E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0195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合作邀约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A13587-1F39-4E0B-89D5-71D98D3E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314825"/>
            <a:ext cx="1257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邀请首批创作者和平台伙伴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0633B7-3B84-4EFC-80A9-169BB557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8F2"/>
          </a:solidFill>
          <a:ln xmlns:a="http://schemas.openxmlformats.org/drawingml/2006/main" w="9525">
            <a:solidFill>
              <a:srgbClr val="BBD7C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2E73AD-0E52-4D3F-85BB-7FEC2780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81650"/>
            <a:ext cx="923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旁白基调：少讲技术名词，多讲“从创作到收款的闭环”。每个镜头都要能剪成一条独立短视频素材。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6A4CB8-7990-4F35-AADF-00DEEA0D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rPr>
              <a:t>PlayDrama Studio 路演稿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033A21-20CB-48F4-B8DC-DED0340F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rPr>
              <a:t>06 / 15</a:t>
            </a:r>
          </a:p>
        </p:txBody>
      </p:sp>
    </p:spTree>
    <p:extLst>
      <p:ext uri="{BB962C8B-B14F-4D97-AF65-F5344CB8AC3E}">
        <p14:creationId xmlns:p14="http://schemas.microsoft.com/office/powerpoint/2010/main" val="210188030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CA8E48-6D5E-4DDD-A377-46C8B54A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6B5FA9BC-8ACD-47BF-955D-7E6D5416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D9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DF245EEA-EE2C-4862-961F-DD7FB295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43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F4D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B8F4D3"/>
                </a:solidFill>
                <a:latin typeface="Microsoft YaHei UI"/>
                <a:ea typeface="Microsoft YaHei UI"/>
                <a:cs typeface="Microsoft YaHei UI"/>
              </a:rPr>
              <a:t>视觉策略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B87DDC-E52D-4808-AA9A-F4CB7F12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619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视觉不做科幻噱头，要让产品看起来已经能被团队立刻使用。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3D6C08-A24A-4801-A6A8-9FE71111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33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EBD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CBEBDD"/>
                </a:solidFill>
                <a:latin typeface="Microsoft YaHei UI"/>
                <a:ea typeface="Microsoft YaHei UI"/>
                <a:cs typeface="Microsoft YaHei UI"/>
              </a:rPr>
              <a:t>深绿、黑色和真实界面组成“商业上线工作台”的质感。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92317e9a204681"/>
          <a:srcRect xmlns:a="http://schemas.openxmlformats.org/drawingml/2006/main" l="0" t="10000" r="0" b="10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67550" y="666750"/>
            <a:ext cx="3143250" cy="3143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E7EECB-1800-4829-B212-F1CD4D6D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14800"/>
            <a:ext cx="4305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914"/>
          </a:solidFill>
          <a:ln xmlns:a="http://schemas.openxmlformats.org/drawingml/2006/main" w="9525">
            <a:solidFill>
              <a:srgbClr val="315D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4CFF63-E539-46E9-BD70-6E9EFA71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05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4D99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74D99B"/>
                </a:solidFill>
                <a:latin typeface="Microsoft YaHei UI"/>
                <a:ea typeface="Microsoft YaHei UI"/>
                <a:cs typeface="Microsoft YaHei UI"/>
              </a:rPr>
              <a:t>画面语言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5838FA-9CF6-486B-BCF6-324D543D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591050"/>
            <a:ext cx="352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4FFF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E4FFF0"/>
                </a:solidFill>
                <a:latin typeface="Microsoft YaHei UI"/>
                <a:ea typeface="Microsoft YaHei UI"/>
                <a:cs typeface="Microsoft YaHei UI"/>
              </a:rPr>
              <a:t>深绿黑底 + 高对比标题 + 真实产品截屏；让观众感觉这不是概念片，而是一个正在上线的工作台。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8C9469-267C-4FD6-AEF5-4BD6BD1F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476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25"/>
          </a:solidFill>
          <a:ln xmlns:a="http://schemas.openxmlformats.org/drawingml/2006/main" w="9525">
            <a:solidFill>
              <a:srgbClr val="315D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B34721-8131-4B34-AE6C-18F7E545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48025"/>
            <a:ext cx="441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4D99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74D99B"/>
                </a:solidFill>
                <a:latin typeface="Microsoft YaHei UI"/>
                <a:ea typeface="Microsoft YaHei UI"/>
                <a:cs typeface="Microsoft YaHei UI"/>
              </a:rPr>
              <a:t>深绿 / 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F7AA4A-721A-4699-8911-213A404F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441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EBD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CBEBDD"/>
                </a:solidFill>
                <a:latin typeface="Microsoft YaHei UI"/>
                <a:ea typeface="Microsoft YaHei UI"/>
                <a:cs typeface="Microsoft YaHei UI"/>
              </a:rPr>
              <a:t>可信、商业、夜间工作台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E3BD1-9EA0-4BE5-A8DF-A85780C6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24300"/>
            <a:ext cx="476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25"/>
          </a:solidFill>
          <a:ln xmlns:a="http://schemas.openxmlformats.org/drawingml/2006/main" w="9525">
            <a:solidFill>
              <a:srgbClr val="315D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3683D6-9B36-4B23-851A-C09394D9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29075"/>
            <a:ext cx="441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4D99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74D99B"/>
                </a:solidFill>
                <a:latin typeface="Microsoft YaHei UI"/>
                <a:ea typeface="Microsoft YaHei UI"/>
                <a:cs typeface="Microsoft YaHei UI"/>
              </a:rPr>
              <a:t>真实界面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436187-3021-494A-99F9-C9B5BD10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441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EBD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CBEBDD"/>
                </a:solidFill>
                <a:latin typeface="Microsoft YaHei UI"/>
                <a:ea typeface="Microsoft YaHei UI"/>
                <a:cs typeface="Microsoft YaHei UI"/>
              </a:rPr>
              <a:t>把技术证据变成镜头证据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E2BEB1-AC22-4B81-847A-D987054D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476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25"/>
          </a:solidFill>
          <a:ln xmlns:a="http://schemas.openxmlformats.org/drawingml/2006/main" w="9525">
            <a:solidFill>
              <a:srgbClr val="315D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80EB7C-0B60-4BE3-B2C3-2E6863AC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0125"/>
            <a:ext cx="441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4D99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74D99B"/>
                </a:solidFill>
                <a:latin typeface="Microsoft YaHei UI"/>
                <a:ea typeface="Microsoft YaHei UI"/>
                <a:cs typeface="Microsoft YaHei UI"/>
              </a:rPr>
              <a:t>短句旁白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7C7E7C-F075-45D1-8629-FBA870A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441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EBD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CBEBDD"/>
                </a:solidFill>
                <a:latin typeface="Microsoft YaHei UI"/>
                <a:ea typeface="Microsoft YaHei UI"/>
                <a:cs typeface="Microsoft YaHei UI"/>
              </a:rPr>
              <a:t>适配抖音和视频号的高密度节奏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13A1AA-0E62-4633-AB08-0B912937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rPr>
              <a:t>视觉素材：本地预热海报 + 产品截图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E361D3-220E-485A-B8B8-509CDD6E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rPr>
              <a:t>07 / 15</a:t>
            </a:r>
          </a:p>
        </p:txBody>
      </p:sp>
    </p:spTree>
    <p:extLst>
      <p:ext uri="{BB962C8B-B14F-4D97-AF65-F5344CB8AC3E}">
        <p14:creationId xmlns:p14="http://schemas.microsoft.com/office/powerpoint/2010/main" val="3286848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3DBC17-69D0-4565-BD53-0B85BB7C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1CF41-E058-487E-80CB-3CD6A1A9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最有说服力的镜头不是口号，而是线上工作台的真实状态。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5BFAE-2625-40D8-AA9E-3E7B5C21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685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使用当前产品截图：Postgres、手机号登录、支付宝/微信支付、17/17 门禁。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fd2163a4124946"/>
          <a:srcRect xmlns:a="http://schemas.openxmlformats.org/drawingml/2006/main" l="0" t="4947" r="0" b="49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1504950"/>
            <a:ext cx="7239000" cy="40767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FFBD8-99B3-4890-BF39-189AE8BE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723900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93C9A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60DA7-3278-4093-A23C-2BEA69BE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00200"/>
            <a:ext cx="2266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A36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A1BFA2-4AB1-4835-BF03-BFE43D72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335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上线门禁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1E1689-4868-4A7C-9B48-C2C9F143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6215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6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0A36C"/>
                </a:solidFill>
                <a:latin typeface="Microsoft YaHei UI"/>
                <a:ea typeface="Microsoft YaHei UI"/>
                <a:cs typeface="Microsoft YaHei UI"/>
              </a:rPr>
              <a:t>17/17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BC3501-8556-4F7D-A60D-61222575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24150"/>
            <a:ext cx="2266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8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51760E-55FF-4286-AA28-D16FFB5A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575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数据底座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49485D-A3FD-48C0-B304-107B7CC7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861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84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A84FF"/>
                </a:solidFill>
                <a:latin typeface="Microsoft YaHei UI"/>
                <a:ea typeface="Microsoft YaHei UI"/>
                <a:cs typeface="Microsoft YaHei UI"/>
              </a:rPr>
              <a:t>PostgreSQL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0B35D-7E63-4A06-AC51-8D27907A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48100"/>
            <a:ext cx="2266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A36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D20114-A9D5-4BE5-A29B-0F3DD21C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814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登录方案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58145D-4D34-43B7-BA97-92496D0B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1005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6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0A36C"/>
                </a:solidFill>
                <a:latin typeface="Microsoft YaHei UI"/>
                <a:ea typeface="Microsoft YaHei UI"/>
                <a:cs typeface="Microsoft YaHei UI"/>
              </a:rPr>
              <a:t>手机号验证码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4E306F-5E1F-464C-8CA8-09C453BB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972050"/>
            <a:ext cx="2266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6C7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2CF061-C239-4763-863A-A6444A8B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1054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支付方案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9CB4F1-55B0-40ED-A1DA-CE024ED4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3340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C74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F6C74F"/>
                </a:solidFill>
                <a:latin typeface="Microsoft YaHei UI"/>
                <a:ea typeface="Microsoft YaHei UI"/>
                <a:cs typeface="Microsoft YaHei UI"/>
              </a:rPr>
              <a:t>支付宝 + 微信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37D3DE-48C7-49EF-9893-34838919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rPr>
              <a:t>证据镜头：生产环境工作台状态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CB5A4A-7E25-4FEF-AAC3-4FA38C1F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rPr>
              <a:t>08 / 15</a:t>
            </a:r>
          </a:p>
        </p:txBody>
      </p:sp>
    </p:spTree>
    <p:extLst>
      <p:ext uri="{BB962C8B-B14F-4D97-AF65-F5344CB8AC3E}">
        <p14:creationId xmlns:p14="http://schemas.microsoft.com/office/powerpoint/2010/main" val="121234695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401059-F318-46DD-848B-475D6C54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7C3034FC-F2D6-4794-A66B-F3D538FA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350EFBD7-7984-44AF-A3DC-351C0D86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43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36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00A36C"/>
                </a:solidFill>
                <a:latin typeface="Microsoft YaHei UI"/>
                <a:ea typeface="Microsoft YaHei UI"/>
                <a:cs typeface="Microsoft YaHei UI"/>
              </a:rPr>
              <a:t>创作动线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7D2C1E-7C82-45EE-8506-C3D68FA6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7429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影片中要把创作者从灵感到发布的路径拍成一条生产线。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41616D-0867-425D-91F9-DE4D1152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00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观众应在十秒内理解：AI 辅助、图谱编辑、上线门禁、预览和复盘。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65FD67-DEA9-4DAC-A068-ADD717EA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952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D7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0EC097-7899-4E48-B6EF-A99B2E45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EA40CE-C12B-42C3-A863-F2A2C5A2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A36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00A36C"/>
                </a:solidFill>
                <a:latin typeface="Microsoft YaHei UI"/>
                <a:ea typeface="Microsoft YaHei UI"/>
                <a:cs typeface="Microsoft YaHei U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95ED78-3EF3-4091-B53D-45DE2464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1465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灵感输入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C106F8-9534-47B3-B2E7-876AC3FC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5755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角色、悬念、付费点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0DBC0F-39F7-45B3-AAA9-B496545E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194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D0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A975E8-AEC7-4B6A-A021-F12B37C1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62250"/>
            <a:ext cx="2952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D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C1B503-9A1E-429E-BC6A-090ED2A1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622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55C843-0516-41F8-995C-4AA40F2C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337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A36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00A36C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4AA5CB-FF70-49D3-9ED0-757CF141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1465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AI 出稿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9408CA-B63A-487A-BAA9-FC143C00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5755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大纲、分支、角色设定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6DD37A-B868-4999-B29E-78589214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194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D0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3DF5C9-C4E9-40CD-9783-438EB1A4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2952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D7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053E74-741E-48BA-BEEB-D9845CE4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CC61A7-7CD3-446E-B182-577979FC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337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84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0A84FF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68848F-D02A-4CD4-9E9A-2730E904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1465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图谱编辑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3E1259-1286-4BDB-8B7F-757B7031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5755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节点、变量、选择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902097-B8B1-4391-BCB0-82982D51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2952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D7C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FCEA9F-220A-45CC-9DB0-19035A00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4FC952-F71A-4CE6-BC60-872BBDA7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624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84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0A84FF"/>
                </a:solidFill>
                <a:latin typeface="Microsoft YaHei UI"/>
                <a:ea typeface="Microsoft YaHei UI"/>
                <a:cs typeface="Microsoft YaHei U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9B859A-3173-481D-B39D-119AEB0E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4340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安全扫描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290AE5-0D30-4276-AAC0-BDD01709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863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内容风险与门禁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0F1E50-8834-44E6-8F0D-F44590CB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482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D0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7BBAAF-0BC8-498F-8B1B-DAE8BDE7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91000"/>
            <a:ext cx="2952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D7C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5E6BAD-061D-4C30-A069-E239629E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9100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7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D85327-3CCA-4472-99E2-63173F35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624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C74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F6C74F"/>
                </a:solidFill>
                <a:latin typeface="Microsoft YaHei UI"/>
                <a:ea typeface="Microsoft YaHei UI"/>
                <a:cs typeface="Microsoft YaHei UI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D9B103-1275-4A7F-974F-0F79AAC8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4340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发布预览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DCFE69-2AC4-462B-BE9E-69BC7F4F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863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H5 和小程序路径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654A4B-C06C-46C5-B587-EF70A83A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482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D0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50850B-1BB6-46A3-98FE-1A73B07E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91000"/>
            <a:ext cx="2952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D7C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65AE6A-7521-4BA5-87AD-B1A3E5F6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9100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7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8A9DED-6DAF-4352-A22C-18D3591C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624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C74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F6C74F"/>
                </a:solidFill>
                <a:latin typeface="Microsoft YaHei UI"/>
                <a:ea typeface="Microsoft YaHei UI"/>
                <a:cs typeface="Microsoft YaHei UI"/>
              </a:rPr>
              <a:t>06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C3FDA6-4C1E-4652-B8C1-A92E3FF4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4340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数据复盘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932356-C745-4318-93E1-4A540379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863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选择率、付费点、迭代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7C69F1-A7BE-4D02-BD00-40CDE253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676650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D0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A575F1-A9B1-432E-AD45-EAF4F83F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76650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D0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8A396F-2BF6-4815-91D8-AAF03DB3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76650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D0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A3107C-A0A6-47AA-B96D-8509B5C5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rPr>
              <a:t>PlayDrama Studio 路演稿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BDB0AF4-2373-47F4-B615-FBC9F8D9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rPr>
              <a:t>09 / 15</a:t>
            </a:r>
          </a:p>
        </p:txBody>
      </p:sp>
    </p:spTree>
    <p:extLst>
      <p:ext uri="{BB962C8B-B14F-4D97-AF65-F5344CB8AC3E}">
        <p14:creationId xmlns:p14="http://schemas.microsoft.com/office/powerpoint/2010/main" val="41404864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3EE086-D5E8-4541-9D0B-1AF9B8F6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1A17371F-3D01-447E-9BC4-A788E7C4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D9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CB125887-2B39-4AA8-BCDE-948EEC5E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43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F4D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B8F4D3"/>
                </a:solidFill>
                <a:latin typeface="Microsoft YaHei UI"/>
                <a:ea typeface="Microsoft YaHei UI"/>
                <a:cs typeface="Microsoft YaHei UI"/>
              </a:rPr>
              <a:t>分发逻辑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9A26E3-8C83-4E7D-8434-0D7E0B99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7239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发布不是终点，H5、抖音、微信小程序和私域要形成数据回路。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777C72-8447-4A6B-9BE5-AA53206A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EBD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CBEBDD"/>
                </a:solidFill>
                <a:latin typeface="Microsoft YaHei UI"/>
                <a:ea typeface="Microsoft YaHei UI"/>
                <a:cs typeface="Microsoft YaHei UI"/>
              </a:rPr>
              <a:t>抖音/微信小程序当前是上线路径与任务，不宣称已完成平台发布。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DFC29-53E6-4A7D-BF84-F28DEEB6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305175"/>
            <a:ext cx="2438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429"/>
          </a:solidFill>
          <a:ln xmlns:a="http://schemas.openxmlformats.org/drawingml/2006/main" w="19050">
            <a:solidFill>
              <a:srgbClr val="00A36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56F11C-46DC-4AE7-AE69-883F9C2A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0997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数据回路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C1BEAA-237C-48C1-BF55-9F5C76E0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029075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CBEBD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CBEBDD"/>
                </a:solidFill>
                <a:latin typeface="Microsoft YaHei UI"/>
                <a:ea typeface="Microsoft YaHei UI"/>
                <a:cs typeface="Microsoft YaHei UI"/>
              </a:rPr>
              <a:t>内容表现反哺下一版剧情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C6C067-BE68-4378-835E-EDE450A7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14625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4"/>
          </a:solidFill>
          <a:ln xmlns:a="http://schemas.openxmlformats.org/drawingml/2006/main" w="19050">
            <a:solidFill>
              <a:srgbClr val="00A36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C25904-CD58-4E70-B7A0-D42E2D80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86075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H5 预览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A0064A-C0A0-4894-81F4-F4B6868A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057525"/>
            <a:ext cx="309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D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3D95CC-67D3-426F-9A96-F210BE7D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14625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4"/>
          </a:solidFill>
          <a:ln xmlns:a="http://schemas.openxmlformats.org/drawingml/2006/main" w="19050">
            <a:solidFill>
              <a:srgbClr val="0A8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0D7828-5F31-4DB0-8093-2B21D821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86075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抖音任务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08BD52-D5D5-4C5B-99F0-0B8E2644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57525"/>
            <a:ext cx="3190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D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449B72-C7FA-405B-A3DE-D4478B86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4345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4"/>
          </a:solidFill>
          <a:ln xmlns:a="http://schemas.openxmlformats.org/drawingml/2006/main" w="19050">
            <a:solidFill>
              <a:srgbClr val="74D99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9E1006-4E9D-4267-A340-9DA0775F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149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微信小程序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13052A-2783-4FCF-8FE4-83CEDD67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3190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D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85CF88-4EC5-48AD-8418-771F1752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4345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4"/>
          </a:solidFill>
          <a:ln xmlns:a="http://schemas.openxmlformats.org/drawingml/2006/main" w="19050">
            <a:solidFill>
              <a:srgbClr val="F6C7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B64F5D-59B2-4245-B3A4-797A39E4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149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私域/社群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E602CF-8211-4BDE-A073-8CA19640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57625"/>
            <a:ext cx="309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D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2F7323-401C-4051-A8DF-64707402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666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25"/>
          </a:solidFill>
          <a:ln xmlns:a="http://schemas.openxmlformats.org/drawingml/2006/main" w="9525">
            <a:solidFill>
              <a:srgbClr val="315D4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BD7579-441D-4DC0-AFB9-859A7E9D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05475"/>
            <a:ext cx="632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C74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F6C74F"/>
                </a:solidFill>
                <a:latin typeface="Microsoft YaHei UI"/>
                <a:ea typeface="Microsoft YaHei UI"/>
                <a:cs typeface="Microsoft YaHei UI"/>
              </a:rPr>
              <a:t>叙事边界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612A7F-087F-48E5-87FE-83D91AFC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43600"/>
            <a:ext cx="6324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EBD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CBEBDD"/>
                </a:solidFill>
                <a:latin typeface="Microsoft YaHei UI"/>
                <a:ea typeface="Microsoft YaHei UI"/>
                <a:cs typeface="Microsoft YaHei UI"/>
              </a:rPr>
              <a:t>抖音和微信小程序是上线路径与任务流；不要在宣传片里暗示平台审核已经全部完成。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C9F15E-655A-415C-A834-57EC0CC8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rPr>
              <a:t>PlayDrama Studio 路演稿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B4DF36-7799-40B3-BF37-BFBC4B03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rPr>
              <a:t>10 / 15</a:t>
            </a:r>
          </a:p>
        </p:txBody>
      </p:sp>
    </p:spTree>
    <p:extLst>
      <p:ext uri="{BB962C8B-B14F-4D97-AF65-F5344CB8AC3E}">
        <p14:creationId xmlns:p14="http://schemas.microsoft.com/office/powerpoint/2010/main" val="68910078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758EBF-8370-4192-A7C1-3D26836E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B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A5D4E33C-3FE6-4CFC-B78E-6833654A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2FBA3C40-316F-460D-AD14-7F342F3F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43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36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00A36C"/>
                </a:solidFill>
                <a:latin typeface="Microsoft YaHei UI"/>
                <a:ea typeface="Microsoft YaHei UI"/>
                <a:cs typeface="Microsoft YaHei UI"/>
              </a:rPr>
              <a:t>收入机制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5537D0-6CCE-43C4-8974-63DF4004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7620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变现不是广告位，而是把付费结局写进剧情节点和支付回调。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3817B5-470D-417D-B41E-2CE31CC6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600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支付宝已默认可用，微信支付作为第二通道已经通过预支付冒烟。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4C3FCB-2513-4C13-890E-D191B978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A36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E50259-94EA-48D0-BDC1-D784B05E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A36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0A36C"/>
                </a:solidFill>
                <a:latin typeface="Microsoft YaHei UI"/>
                <a:ea typeface="Microsoft YaHei UI"/>
                <a:cs typeface="Microsoft YaHei UI"/>
              </a:rPr>
              <a:t>剧情节点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1C3DB9-0E2E-423E-AD49-69D733C8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43300"/>
            <a:ext cx="1371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用户做出关键选择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F62E67-1D58-44F7-949B-D17DC1D6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5052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A4DC89-8E77-4024-9E15-3919FB34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5275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6C7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394383-F0CF-4BC8-A491-54343834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43250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6C74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F6C74F"/>
                </a:solidFill>
                <a:latin typeface="Microsoft YaHei UI"/>
                <a:ea typeface="Microsoft YaHei UI"/>
                <a:cs typeface="Microsoft YaHei UI"/>
              </a:rPr>
              <a:t>付费结局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AFA2EF-F968-4DB7-8139-8366D4A9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43300"/>
            <a:ext cx="1371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触发解锁订单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A09F66-0E1B-41CB-82AA-84AEBE05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052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5B5812-FB26-4936-BBBE-2DD91EA8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5275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8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C3E8D8-B736-4E27-924D-39ECE5A6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43250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A84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A84FF"/>
                </a:solidFill>
                <a:latin typeface="Microsoft YaHei UI"/>
                <a:ea typeface="Microsoft YaHei UI"/>
                <a:cs typeface="Microsoft YaHei UI"/>
              </a:rPr>
              <a:t>支付通道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BE275A-7F25-4801-9622-DB70E104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43300"/>
            <a:ext cx="1371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支付宝默认 + 微信第二通道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F8BA3C-FCDB-4C28-AD37-D597AC5E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052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8AD048-167C-4311-8C1B-306CC104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5275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A36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C53270-AE20-437A-A57E-8558A304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43250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A36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0A36C"/>
                </a:solidFill>
                <a:latin typeface="Microsoft YaHei UI"/>
                <a:ea typeface="Microsoft YaHei UI"/>
                <a:cs typeface="Microsoft YaHei UI"/>
              </a:rPr>
              <a:t>验签回调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0B3EE6-FFC4-44B9-8A18-A76D925D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43300"/>
            <a:ext cx="1371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确认金额、商户、AppID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2B4131-90F4-4DEE-A1C5-7E7057FE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052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1B36D5-318B-4E28-95A5-BEFDD5A6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5275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6C74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8E425F-51FC-48DB-96C6-DF2DAC91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43250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6C74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F6C74F"/>
                </a:solidFill>
                <a:latin typeface="Microsoft YaHei UI"/>
                <a:ea typeface="Microsoft YaHei UI"/>
                <a:cs typeface="Microsoft YaHei UI"/>
              </a:rPr>
              <a:t>解锁复盘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B8EA28-6DC7-4489-B601-52EA36B2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543300"/>
            <a:ext cx="1371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剧情继续 + 数据入库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B67624-1826-44CB-BA45-7E2FEBE5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19650"/>
            <a:ext cx="2190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D7C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65208A-9939-48BE-8622-61062036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953000"/>
            <a:ext cx="1847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A36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00A36C"/>
                </a:solidFill>
                <a:latin typeface="Microsoft YaHei UI"/>
                <a:ea typeface="Microsoft YaHei UI"/>
                <a:cs typeface="Microsoft YaHei UI"/>
              </a:rPr>
              <a:t>PASS 6/6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2EE874-C499-46FF-BFF4-076EA022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324475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微信预支付冒烟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31194E-4C2D-45ED-ABB3-661166F6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196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D7C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EE84D2-D842-45B4-9AB9-FEDE3F96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95300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A84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0A84FF"/>
                </a:solidFill>
                <a:latin typeface="Microsoft YaHei UI"/>
                <a:ea typeface="Microsoft YaHei UI"/>
                <a:cs typeface="Microsoft YaHei UI"/>
              </a:rPr>
              <a:t>PASS 10/10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8750BC-1902-4E25-A260-A34E6D01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324475"/>
            <a:ext cx="2038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支付回调验签回归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707B93-207D-423B-A5E7-780994A3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19650"/>
            <a:ext cx="1809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D7C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27B6FE-DD8C-4D1E-915E-1DEDC647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53000"/>
            <a:ext cx="1466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6C74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6C74F"/>
                </a:solidFill>
                <a:latin typeface="Microsoft YaHei UI"/>
                <a:ea typeface="Microsoft YaHei UI"/>
                <a:cs typeface="Microsoft YaHei UI"/>
              </a:rPr>
              <a:t>GO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EE59B4-FAFD-4F2E-AC9B-920300D9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324475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上线门禁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C40444-9528-42A4-B61A-54378FFF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rPr>
              <a:t>验证：微信预支付、回调验签、launch gate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6C7EFA-7A44-4D5D-99B0-2B865FB0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rPr>
              <a:t>11 / 15</a:t>
            </a:r>
          </a:p>
        </p:txBody>
      </p:sp>
    </p:spTree>
    <p:extLst>
      <p:ext uri="{BB962C8B-B14F-4D97-AF65-F5344CB8AC3E}">
        <p14:creationId xmlns:p14="http://schemas.microsoft.com/office/powerpoint/2010/main" val="52806332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24CAF3-5DC1-43E5-B98B-CDE55F86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82F9FC8B-EF4A-4EEF-B9E6-E85E606E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71F208AA-C059-4936-AC58-9A74B32F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43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36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00A36C"/>
                </a:solidFill>
                <a:latin typeface="Microsoft YaHei UI"/>
                <a:ea typeface="Microsoft YaHei UI"/>
                <a:cs typeface="Microsoft YaHei UI"/>
              </a:rPr>
              <a:t>国内底座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99673B-5800-4F1A-90FB-78994529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7524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国产云、短信、邮件、模型和支付栈，让内测更接近真实商用。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22CD39-CE00-4A23-A61A-19B06C23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600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阿里云 RDS、腾讯短信、阿里邮件、千问、支付宝和微信支付共同构成国内上线底座。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21DB8A-35A9-40F4-8DC6-5F5E9CF0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D7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6A9296-B607-4B0C-84C9-9822F1B0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96A12B-0415-419B-AF4D-D6AC2248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241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阿里云 RDS PostgreSQL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E98C6E-4915-4CB1-B4E3-B85CAEA1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908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作品、订单、审计、会话落库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15B21B-F970-4961-9D81-7CA3814B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38475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A36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00A36C"/>
                </a:solidFill>
                <a:latin typeface="Microsoft YaHei UI"/>
                <a:ea typeface="Microsoft YaHei UI"/>
                <a:cs typeface="Microsoft YaHei UI"/>
              </a:rPr>
              <a:t>已连接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6B8B29-7013-4143-9932-C027CA6C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D7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DC0F8F-D5E7-4141-91BA-55BE808F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2B0807-04FB-4992-9C23-67BF3286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241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腾讯云短信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9456DF-1329-4F75-8857-648C069C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908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手机号验证码登录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AF4CC2-2BAD-49FB-BE13-FFFC94C0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038475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A36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00A36C"/>
                </a:solidFill>
                <a:latin typeface="Microsoft YaHei UI"/>
                <a:ea typeface="Microsoft YaHei UI"/>
                <a:cs typeface="Microsoft YaHei UI"/>
              </a:rPr>
              <a:t>已接入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148B85-19C9-4FC0-AEBA-9D279117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D7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876F80-BD3C-4FE7-9F6E-293B2660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7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9B04E3-8701-4976-88AC-1D3562D4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00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阿里云邮件推送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42CF71-9153-44CA-BAE6-A4E77862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671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团队邀请与通知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C57C14-4668-444A-AE1D-8CFFF74B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14775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A36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00A36C"/>
                </a:solidFill>
                <a:latin typeface="Microsoft YaHei UI"/>
                <a:ea typeface="Microsoft YaHei UI"/>
                <a:cs typeface="Microsoft YaHei UI"/>
              </a:rPr>
              <a:t>已配置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ED0695-9A8C-4B82-BA24-85982514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D7C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0DC172-C79A-4D97-B36A-DAC71D61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C3C3CC-8CA4-470B-B837-A2596639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00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通义千问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345845-9C0D-4E8E-8E55-01C7FC5A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671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AI 剧情生成与分支扩展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6BEB3B-5048-41F4-BDED-4774379D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914775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A36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00A36C"/>
                </a:solidFill>
                <a:latin typeface="Microsoft YaHei UI"/>
                <a:ea typeface="Microsoft YaHei UI"/>
                <a:cs typeface="Microsoft YaHei UI"/>
              </a:rPr>
              <a:t>已接入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9C0D36-7CB7-4461-95F8-218EF151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D7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F897DA-939B-4695-AB76-383DF9F7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FF2FAF-B80F-4F43-BB9D-568D7D70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767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支付宝 / 微信支付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4D7547-030D-4D57-B92B-E3547B5B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434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付费结局与回调验签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A39C7F-5D0E-41ED-A925-1633987E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91075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A36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00A36C"/>
                </a:solidFill>
                <a:latin typeface="Microsoft YaHei UI"/>
                <a:ea typeface="Microsoft YaHei UI"/>
                <a:cs typeface="Microsoft YaHei UI"/>
              </a:rPr>
              <a:t>可用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86E903-76CA-4DB6-986A-6B724962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339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D7C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D0CC79-AE7D-4746-850F-3910C284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3390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7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07082A-EE75-4335-920A-14E0493A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767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内容安全本地规则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21EB00-F191-4F16-9069-91955F84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434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上线前门禁与审核记录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93DDEC-AEB1-4D51-AEDA-DFCAF201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791075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A36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00A36C"/>
                </a:solidFill>
                <a:latin typeface="Microsoft YaHei UI"/>
                <a:ea typeface="Microsoft YaHei UI"/>
                <a:cs typeface="Microsoft YaHei UI"/>
              </a:rPr>
              <a:t>已通过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8262D0-126D-4D2E-ACEA-728EDFE7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rPr>
              <a:t>国内商用底座：当前生产环境状态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DD4DE2-CD6D-42C4-BE87-2D225991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rPr>
              <a:t>12 / 15</a:t>
            </a:r>
          </a:p>
        </p:txBody>
      </p:sp>
    </p:spTree>
    <p:extLst>
      <p:ext uri="{BB962C8B-B14F-4D97-AF65-F5344CB8AC3E}">
        <p14:creationId xmlns:p14="http://schemas.microsoft.com/office/powerpoint/2010/main" val="39799046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CB5C84-5D16-487B-8B2D-DC40BCC5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3-marker">
            <a:extLst xmlns:a="http://schemas.openxmlformats.org/drawingml/2006/main">
              <a:ext uri="{FF2B5EF4-FFF2-40B4-BE49-F238E27FC236}">
                <a16:creationId xmlns:a16="http://schemas.microsoft.com/office/drawing/2014/main" id="{1829214D-954D-4442-B232-C9E1589D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D9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89E04F1A-F5EB-4BE6-816B-EFA62407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43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F4D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B8F4D3"/>
                </a:solidFill>
                <a:latin typeface="Microsoft YaHei UI"/>
                <a:ea typeface="Microsoft YaHei UI"/>
                <a:cs typeface="Microsoft YaHei UI"/>
              </a:rPr>
              <a:t>素材包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3E5797-ACE9-45C7-BF3E-1B473C38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581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一支主片要拆出五类渠道资产，才值得投入制作。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538794-8B0B-41DA-9D54-43A9F9A9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33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EBD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CBEBDD"/>
                </a:solidFill>
                <a:latin typeface="Microsoft YaHei UI"/>
                <a:ea typeface="Microsoft YaHei UI"/>
                <a:cs typeface="Microsoft YaHei UI"/>
              </a:rPr>
              <a:t>40 秒路演主片、15 秒短版、6 秒开屏、海报、竖屏切条和产品页素材。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3004c52720411c"/>
          <a:srcRect xmlns:a="http://schemas.openxmlformats.org/drawingml/2006/main" l="0" t="7200" r="0" b="72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29450" y="876300"/>
            <a:ext cx="4019550" cy="2266950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69de67e9e24b67"/>
          <a:srcRect xmlns:a="http://schemas.openxmlformats.org/drawingml/2006/main" l="0" t="13981" r="0" b="139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29450" y="3390900"/>
            <a:ext cx="4019550" cy="1809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F99450-B1CE-42A8-8DDD-57C62887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30"/>
          </a:solidFill>
          <a:ln xmlns:a="http://schemas.openxmlformats.org/drawingml/2006/main" w="9525">
            <a:solidFill>
              <a:srgbClr val="315D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73F1A2-F3F7-48B4-80A1-12F4B377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908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C74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F6C74F"/>
                </a:solidFill>
                <a:latin typeface="Microsoft YaHei UI"/>
                <a:ea typeface="Microsoft YaHei UI"/>
                <a:cs typeface="Microsoft YaHei UI"/>
              </a:rPr>
              <a:t>40s 主片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8B61CB-ACC0-4F26-BDB7-AB4CAE32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9908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EBD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CBEBDD"/>
                </a:solidFill>
                <a:latin typeface="Microsoft YaHei UI"/>
                <a:ea typeface="Microsoft YaHei UI"/>
                <a:cs typeface="Microsoft YaHei UI"/>
              </a:rPr>
              <a:t>官网、路演、招商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05EC2A-A8C1-40BA-B721-342859DB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25"/>
          </a:solidFill>
          <a:ln xmlns:a="http://schemas.openxmlformats.org/drawingml/2006/main" w="9525">
            <a:solidFill>
              <a:srgbClr val="315D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891C25-F836-42AB-8CBF-FDAEF365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052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4D99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74D99B"/>
                </a:solidFill>
                <a:latin typeface="Microsoft YaHei UI"/>
                <a:ea typeface="Microsoft YaHei UI"/>
                <a:cs typeface="Microsoft YaHei UI"/>
              </a:rPr>
              <a:t>15s 短版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8523CA-4C91-405F-8EF9-333EA870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052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EBD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CBEBDD"/>
                </a:solidFill>
                <a:latin typeface="Microsoft YaHei UI"/>
                <a:ea typeface="Microsoft YaHei UI"/>
                <a:cs typeface="Microsoft YaHei UI"/>
              </a:rPr>
              <a:t>抖音 / 视频号投放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207A0A-D3BB-4D4F-B215-438473A7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25"/>
          </a:solidFill>
          <a:ln xmlns:a="http://schemas.openxmlformats.org/drawingml/2006/main" w="9525">
            <a:solidFill>
              <a:srgbClr val="315D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2B4455-F885-41C0-87D3-FB9F77A6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195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4D99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74D99B"/>
                </a:solidFill>
                <a:latin typeface="Microsoft YaHei UI"/>
                <a:ea typeface="Microsoft YaHei UI"/>
                <a:cs typeface="Microsoft YaHei UI"/>
              </a:rPr>
              <a:t>6s 开屏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587982-C061-416E-BE4B-F355E78A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195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EBD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CBEBDD"/>
                </a:solidFill>
                <a:latin typeface="Microsoft YaHei UI"/>
                <a:ea typeface="Microsoft YaHei UI"/>
                <a:cs typeface="Microsoft YaHei UI"/>
              </a:rPr>
              <a:t>预热和转发封面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21B31C-08E5-4812-B1EC-D4FB2FB3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25"/>
          </a:solidFill>
          <a:ln xmlns:a="http://schemas.openxmlformats.org/drawingml/2006/main" w="9525">
            <a:solidFill>
              <a:srgbClr val="315D4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07B965-DF90-4C60-AC2A-3C01EA13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339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4D99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74D99B"/>
                </a:solidFill>
                <a:latin typeface="Microsoft YaHei UI"/>
                <a:ea typeface="Microsoft YaHei UI"/>
                <a:cs typeface="Microsoft YaHei UI"/>
              </a:rPr>
              <a:t>竖屏切条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D43D5F-BA6D-41C7-9CBE-40444C26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339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EBD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CBEBDD"/>
                </a:solidFill>
                <a:latin typeface="Microsoft YaHei UI"/>
                <a:ea typeface="Microsoft YaHei UI"/>
                <a:cs typeface="Microsoft YaHei UI"/>
              </a:rPr>
              <a:t>剧情图谱、支付、门禁三条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683AB2-1040-4571-B7C8-8F8A96EB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25"/>
          </a:solidFill>
          <a:ln xmlns:a="http://schemas.openxmlformats.org/drawingml/2006/main" w="9525">
            <a:solidFill>
              <a:srgbClr val="315D4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CEF8FA-D6BF-49D9-A14C-5A93653A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482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4D99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74D99B"/>
                </a:solidFill>
                <a:latin typeface="Microsoft YaHei UI"/>
                <a:ea typeface="Microsoft YaHei UI"/>
                <a:cs typeface="Microsoft YaHei UI"/>
              </a:rPr>
              <a:t>海报组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0F3318-3D43-41A3-B1ED-0BB6D9C8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482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EBD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CBEBDD"/>
                </a:solidFill>
                <a:latin typeface="Microsoft YaHei UI"/>
                <a:ea typeface="Microsoft YaHei UI"/>
                <a:cs typeface="Microsoft YaHei UI"/>
              </a:rPr>
              <a:t>内测招募和朋友圈传播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1FC8D6-289D-4FA7-A63D-ACF47940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rPr>
              <a:t>PlayDrama Studio 路演稿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FA3BEC-4291-4ABE-9114-25692F0C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rPr>
              <a:t>13 / 15</a:t>
            </a:r>
          </a:p>
        </p:txBody>
      </p:sp>
    </p:spTree>
    <p:extLst>
      <p:ext uri="{BB962C8B-B14F-4D97-AF65-F5344CB8AC3E}">
        <p14:creationId xmlns:p14="http://schemas.microsoft.com/office/powerpoint/2010/main" val="182766611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73EA74-1CAE-4DD3-AE98-D41ABD01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4-marker">
            <a:extLst xmlns:a="http://schemas.openxmlformats.org/drawingml/2006/main">
              <a:ext uri="{FF2B5EF4-FFF2-40B4-BE49-F238E27FC236}">
                <a16:creationId xmlns:a16="http://schemas.microsoft.com/office/drawing/2014/main" id="{B1A77533-637B-4045-B344-F01A21D9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4-label">
            <a:extLst xmlns:a="http://schemas.openxmlformats.org/drawingml/2006/main">
              <a:ext uri="{FF2B5EF4-FFF2-40B4-BE49-F238E27FC236}">
                <a16:creationId xmlns:a16="http://schemas.microsoft.com/office/drawing/2014/main" id="{F9D81072-383A-4D73-B4AF-5361D18E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43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36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00A36C"/>
                </a:solidFill>
                <a:latin typeface="Microsoft YaHei UI"/>
                <a:ea typeface="Microsoft YaHei UI"/>
                <a:cs typeface="Microsoft YaHei UI"/>
              </a:rPr>
              <a:t>投放节奏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09B5D9-F640-444D-B700-886F7110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先测一句话价值主张，再测渠道转化，最后推进小程序审核。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B2B2F2-C7D9-4179-8D14-850032F6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600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30 天小流量节奏：预热、内测、渠道任务、支付验证、平台审核。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A8EB44-A8AF-4E79-ABE0-6E0B370A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2190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EF"/>
          </a:solidFill>
          <a:ln xmlns:a="http://schemas.openxmlformats.org/drawingml/2006/main" w="9525">
            <a:solidFill>
              <a:srgbClr val="BBD7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E8C2FF-C16E-4E86-AD5C-C700D054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B8D966-5C88-43A4-B5B5-2A29DAB3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第 1 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4BA18A-664D-4A2E-B988-B3CDDA3C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290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预热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2FFC88-310C-4F61-B057-BCFB68AC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8620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海报 + 6s 开屏，验证一句话价值主张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A5C6FE-01CD-4000-AE70-B83EEF43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2190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7"/>
          </a:solidFill>
          <a:ln xmlns:a="http://schemas.openxmlformats.org/drawingml/2006/main" w="9525">
            <a:solidFill>
              <a:srgbClr val="BBD7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533AB7-398F-477E-8DA5-E8C03364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A6C286-4D68-421E-B8B3-E8F03C84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623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第 2 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AC3C4B-98EB-4791-95E0-8AE60475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290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内测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397E9E-BC58-4A03-8428-3EF0E8A1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8620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邀请 5-10 个创作者跑完整创作链路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5963E3-584B-4876-92F7-A1D7EE72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57500"/>
            <a:ext cx="2190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EF"/>
          </a:solidFill>
          <a:ln xmlns:a="http://schemas.openxmlformats.org/drawingml/2006/main" w="9525">
            <a:solidFill>
              <a:srgbClr val="BBD7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213A94-BEA9-4158-921C-8A2841D5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5750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C34E8C-E75E-49DB-AAF4-E1CB5060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623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第 3 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AEFDA5-B305-4032-9E24-792DB1DE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290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渠道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FE5303-9829-4B3E-AF9D-79C5ABD2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8620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H5 分享、抖音任务、微信小程序材料准备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395E86-4053-4AE3-BB09-FEDAF719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2190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7"/>
          </a:solidFill>
          <a:ln xmlns:a="http://schemas.openxmlformats.org/drawingml/2006/main" w="9525">
            <a:solidFill>
              <a:srgbClr val="BBD7C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9DC53C-8E5D-4E6A-8290-8BB6A035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7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C751CE-CD68-47BE-BD26-7E3D3326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623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第 4 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62F48A-2F7F-4E9A-93A1-1E537E9A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290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6C74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F6C74F"/>
                </a:solidFill>
                <a:latin typeface="Microsoft YaHei UI"/>
                <a:ea typeface="Microsoft YaHei UI"/>
                <a:cs typeface="Microsoft YaHei UI"/>
              </a:rPr>
              <a:t>支付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E9850B-908C-49E0-93F1-BC03D29C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8620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小额真实订单、回调验签、付费结局复盘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A745CC-660E-4F1C-817F-F6254F95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67300"/>
            <a:ext cx="838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2D8"/>
          </a:solidFill>
          <a:ln xmlns:a="http://schemas.openxmlformats.org/drawingml/2006/main" w="9525">
            <a:solidFill>
              <a:srgbClr val="E7D08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86C53A-B055-4B8C-A011-E503B86E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172075"/>
            <a:ext cx="803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判断是否放大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1440E7-1387-4BD8-9E9A-5468E9BE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410200"/>
            <a:ext cx="803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40524A"/>
                </a:solidFill>
                <a:latin typeface="Microsoft YaHei UI"/>
                <a:ea typeface="Microsoft YaHei UI"/>
                <a:cs typeface="Microsoft YaHei UI"/>
              </a:rPr>
              <a:t>看三个信号：创作者是否愿意保存作品、渠道是否带来试玩、付费结局是否能完成真实回调。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611EFB-CAC6-4EEB-AABD-3D1A139F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rPr>
              <a:t>PlayDrama Studio 路演稿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103F27-D6AF-4172-B700-6D108E00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rPr>
              <a:t>14 / 15</a:t>
            </a:r>
          </a:p>
        </p:txBody>
      </p:sp>
    </p:spTree>
    <p:extLst>
      <p:ext uri="{BB962C8B-B14F-4D97-AF65-F5344CB8AC3E}">
        <p14:creationId xmlns:p14="http://schemas.microsoft.com/office/powerpoint/2010/main" val="90560886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4348E6-D97F-4DBA-AE3C-974CCE91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CC021-A521-4E60-ADD2-FFDB5B51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5-marker">
            <a:extLst xmlns:a="http://schemas.openxmlformats.org/drawingml/2006/main">
              <a:ext uri="{FF2B5EF4-FFF2-40B4-BE49-F238E27FC236}">
                <a16:creationId xmlns:a16="http://schemas.microsoft.com/office/drawing/2014/main" id="{74A2369A-D672-4C3F-828C-D6B8E7D3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D9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5-label">
            <a:extLst xmlns:a="http://schemas.openxmlformats.org/drawingml/2006/main">
              <a:ext uri="{FF2B5EF4-FFF2-40B4-BE49-F238E27FC236}">
                <a16:creationId xmlns:a16="http://schemas.microsoft.com/office/drawing/2014/main" id="{20DABE59-BEE4-4C4A-82DD-26ADD7DA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43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F4D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B8F4D3"/>
                </a:solidFill>
                <a:latin typeface="Microsoft YaHei UI"/>
                <a:ea typeface="Microsoft YaHei UI"/>
                <a:cs typeface="Microsoft YaHei UI"/>
              </a:rPr>
              <a:t>行动邀约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DEFC4A-5888-4E49-9005-5DD21CF1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810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4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现在需要首批创作者、平台路径和真实付费链路的共创伙伴。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E1A05B-2630-40EE-A307-22C283AA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EBD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CBEBDD"/>
                </a:solidFill>
                <a:latin typeface="Microsoft YaHei UI"/>
                <a:ea typeface="Microsoft YaHei UI"/>
                <a:cs typeface="Microsoft YaHei UI"/>
              </a:rPr>
              <a:t>下一步不是“大发布”，而是可控内测、内容样板和渠道证明。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628F42-38FA-45C9-8331-DEDC960C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29050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429"/>
          </a:solidFill>
          <a:ln xmlns:a="http://schemas.openxmlformats.org/drawingml/2006/main" w="19050">
            <a:solidFill>
              <a:srgbClr val="00A36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FC2A2E-88B6-49FB-9583-47997245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576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4D99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74D99B"/>
                </a:solidFill>
                <a:latin typeface="Microsoft YaHei UI"/>
                <a:ea typeface="Microsoft YaHei UI"/>
                <a:cs typeface="Microsoft YaHei UI"/>
              </a:rPr>
              <a:t>创作者内测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B3F81B-E5DF-4DF3-8AB2-71983845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2266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F7E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DDF7E9"/>
                </a:solidFill>
                <a:latin typeface="Microsoft YaHei UI"/>
                <a:ea typeface="Microsoft YaHei UI"/>
                <a:cs typeface="Microsoft YaHei UI"/>
              </a:rPr>
              <a:t>提供真实短剧题材，跑通从创作到发布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125A88-4F3A-41BB-94D2-AF956DD6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29050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429"/>
          </a:solidFill>
          <a:ln xmlns:a="http://schemas.openxmlformats.org/drawingml/2006/main" w="19050">
            <a:solidFill>
              <a:srgbClr val="0A84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E4B2F9-1493-4AFA-BF31-46FFF8E6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576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4D99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74D99B"/>
                </a:solidFill>
                <a:latin typeface="Microsoft YaHei UI"/>
                <a:ea typeface="Microsoft YaHei UI"/>
                <a:cs typeface="Microsoft YaHei UI"/>
              </a:rPr>
              <a:t>平台路径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3F3E0A-6E1E-4511-9079-FCCCA8EB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76750"/>
            <a:ext cx="2266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F7E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DDF7E9"/>
                </a:solidFill>
                <a:latin typeface="Microsoft YaHei UI"/>
                <a:ea typeface="Microsoft YaHei UI"/>
                <a:cs typeface="Microsoft YaHei UI"/>
              </a:rPr>
              <a:t>推进微信小程序、抖音开放平台材料与审核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543C9A-EAC8-4D62-A71B-AB978906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29050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429"/>
          </a:solidFill>
          <a:ln xmlns:a="http://schemas.openxmlformats.org/drawingml/2006/main" w="19050">
            <a:solidFill>
              <a:srgbClr val="F6C7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B3C79A-3ACD-415A-AA17-D09A8BDF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576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C74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F6C74F"/>
                </a:solidFill>
                <a:latin typeface="Microsoft YaHei UI"/>
                <a:ea typeface="Microsoft YaHei UI"/>
                <a:cs typeface="Microsoft YaHei UI"/>
              </a:rPr>
              <a:t>商业样板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801A33-15C1-4CF1-BCCF-979ABE16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76750"/>
            <a:ext cx="2266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F7E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DDF7E9"/>
                </a:solidFill>
                <a:latin typeface="Microsoft YaHei UI"/>
                <a:ea typeface="Microsoft YaHei UI"/>
                <a:cs typeface="Microsoft YaHei UI"/>
              </a:rPr>
              <a:t>完成一个可展示的付费结局案例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FE87E7-173B-4A5F-8A71-C9715FA5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352550"/>
            <a:ext cx="247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74F"/>
          </a:solidFill>
          <a:ln xmlns:a="http://schemas.openxmlformats.org/drawingml/2006/main" w="0">
            <a:solidFill>
              <a:srgbClr val="F6C74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442CBC-D64B-4682-A14A-8E744DFE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2057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0A1512"/>
                </a:solidFill>
                <a:latin typeface="Microsoft YaHei UI"/>
                <a:ea typeface="Microsoft YaHei UI"/>
                <a:cs typeface="Microsoft YaHei UI"/>
              </a:rPr>
              <a:t>playdrama.tokenaicloud.com/studio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92B06B-D117-4A1D-8266-3D667CB3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578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先证明闭环，再放大流量。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A8E0B9-BF33-4D97-9970-ED456814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rPr>
              <a:t>PlayDrama Studio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DA5470-B128-4A2B-8590-F2B382E0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B8D84"/>
                </a:solidFill>
                <a:latin typeface="Microsoft YaHei UI"/>
                <a:ea typeface="Microsoft YaHei UI"/>
                <a:cs typeface="Microsoft YaHei UI"/>
              </a:rPr>
              <a:t>15 / 15</a:t>
            </a:r>
          </a:p>
        </p:txBody>
      </p:sp>
    </p:spTree>
    <p:extLst>
      <p:ext uri="{BB962C8B-B14F-4D97-AF65-F5344CB8AC3E}">
        <p14:creationId xmlns:p14="http://schemas.microsoft.com/office/powerpoint/2010/main" val="1095960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2026-05-24T04:37:06.7340000Z</dcterms:created>
  <dcterms:modified xsi:type="dcterms:W3CDTF">2026-05-24T04:37:06.7340000Z</dcterms:modified>
</coreProperties>
</file>